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6" r:id="rId4"/>
    <p:sldId id="267" r:id="rId5"/>
    <p:sldId id="258" r:id="rId6"/>
    <p:sldId id="259" r:id="rId7"/>
    <p:sldId id="260" r:id="rId8"/>
    <p:sldId id="263"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A7B473F-06EF-4DBF-A8CF-855307822BF0}">
          <p14:sldIdLst>
            <p14:sldId id="256"/>
            <p14:sldId id="257"/>
            <p14:sldId id="266"/>
            <p14:sldId id="267"/>
            <p14:sldId id="258"/>
            <p14:sldId id="259"/>
            <p14:sldId id="260"/>
            <p14:sldId id="263"/>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300"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755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70766-F9E4-8EE7-4034-4E8AA9543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30472-E44A-1710-BC96-A0C5736FD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9F74B-9D22-0492-7640-6CBAE04101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3627F8-2ED9-E5B3-BB30-97C393D2389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6340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844F6-FCDA-7108-FB87-FDF0A47DD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9F09D-96F2-C4D8-00A0-F5F4959CBB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609D9-F3DD-0C5F-B601-273DB09146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76931D-0261-5096-4A9B-72E69A0BDB5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499838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Shape 1"/>
          <p:cNvSpPr/>
          <p:nvPr/>
        </p:nvSpPr>
        <p:spPr>
          <a:xfrm>
            <a:off x="0" y="5088636"/>
            <a:ext cx="9144000" cy="54864"/>
          </a:xfrm>
          <a:prstGeom prst="rect">
            <a:avLst/>
          </a:prstGeom>
          <a:solidFill>
            <a:srgbClr val="B8963E"/>
          </a:solidFill>
          <a:ln w="12700">
            <a:solidFill>
              <a:srgbClr val="B8963E"/>
            </a:solidFill>
            <a:prstDash val="solid"/>
          </a:ln>
        </p:spPr>
      </p:sp>
      <p:sp>
        <p:nvSpPr>
          <p:cNvPr id="4" name="Shape 2"/>
          <p:cNvSpPr/>
          <p:nvPr/>
        </p:nvSpPr>
        <p:spPr>
          <a:xfrm>
            <a:off x="0" y="54864"/>
            <a:ext cx="228600" cy="5033772"/>
          </a:xfrm>
          <a:prstGeom prst="rect">
            <a:avLst/>
          </a:prstGeom>
          <a:solidFill>
            <a:srgbClr val="243554"/>
          </a:solidFill>
          <a:ln w="12700">
            <a:solidFill>
              <a:srgbClr val="243554"/>
            </a:solidFill>
            <a:prstDash val="solid"/>
          </a:ln>
        </p:spPr>
      </p:sp>
      <p:sp>
        <p:nvSpPr>
          <p:cNvPr id="5" name="Text 3"/>
          <p:cNvSpPr/>
          <p:nvPr/>
        </p:nvSpPr>
        <p:spPr>
          <a:xfrm>
            <a:off x="502920" y="566928"/>
            <a:ext cx="8229600" cy="347472"/>
          </a:xfrm>
          <a:prstGeom prst="rect">
            <a:avLst/>
          </a:prstGeom>
          <a:noFill/>
          <a:ln/>
        </p:spPr>
        <p:txBody>
          <a:bodyPr wrap="square" rtlCol="0" anchor="ctr"/>
          <a:lstStyle/>
          <a:p>
            <a:pPr marL="0" indent="0">
              <a:buNone/>
            </a:pPr>
            <a:r>
              <a:rPr lang="en-US" sz="1000" b="1" kern="0" spc="300" dirty="0">
                <a:solidFill>
                  <a:srgbClr val="D4AF5A"/>
                </a:solidFill>
                <a:latin typeface="Calibri" pitchFamily="34" charset="0"/>
                <a:ea typeface="Calibri" pitchFamily="34" charset="-122"/>
                <a:cs typeface="Calibri" pitchFamily="34" charset="-120"/>
              </a:rPr>
              <a:t>INTERNSHIP PROJECT  ·  FULL-STACK WEB APPLICATION</a:t>
            </a:r>
            <a:endParaRPr lang="en-US" sz="1000" dirty="0"/>
          </a:p>
        </p:txBody>
      </p:sp>
      <p:sp>
        <p:nvSpPr>
          <p:cNvPr id="6" name="Text 4"/>
          <p:cNvSpPr/>
          <p:nvPr/>
        </p:nvSpPr>
        <p:spPr>
          <a:xfrm>
            <a:off x="502920" y="960120"/>
            <a:ext cx="7772400" cy="1920240"/>
          </a:xfrm>
          <a:prstGeom prst="rect">
            <a:avLst/>
          </a:prstGeom>
          <a:noFill/>
          <a:ln/>
        </p:spPr>
        <p:txBody>
          <a:bodyPr wrap="square" rtlCol="0" anchor="ctr"/>
          <a:lstStyle/>
          <a:p>
            <a:pPr marL="0" indent="0">
              <a:lnSpc>
                <a:spcPct val="115000"/>
              </a:lnSpc>
              <a:buNone/>
            </a:pPr>
            <a:r>
              <a:rPr lang="en-US" sz="5200" b="1" dirty="0">
                <a:solidFill>
                  <a:srgbClr val="FFFFFF"/>
                </a:solidFill>
                <a:latin typeface="Calibri" pitchFamily="34" charset="0"/>
                <a:ea typeface="Calibri" pitchFamily="34" charset="-122"/>
                <a:cs typeface="Calibri" pitchFamily="34" charset="-120"/>
              </a:rPr>
              <a:t>Price Comparison</a:t>
            </a:r>
            <a:endParaRPr lang="en-US" sz="5200" dirty="0"/>
          </a:p>
          <a:p>
            <a:pPr marL="0" indent="0">
              <a:lnSpc>
                <a:spcPct val="115000"/>
              </a:lnSpc>
              <a:buNone/>
            </a:pPr>
            <a:r>
              <a:rPr lang="en-US" sz="5200" b="1" dirty="0">
                <a:solidFill>
                  <a:srgbClr val="FFFFFF"/>
                </a:solidFill>
                <a:latin typeface="Calibri" pitchFamily="34" charset="0"/>
                <a:ea typeface="Calibri" pitchFamily="34" charset="-122"/>
                <a:cs typeface="Calibri" pitchFamily="34" charset="-120"/>
              </a:rPr>
              <a:t>Web Application</a:t>
            </a:r>
            <a:endParaRPr lang="en-US" sz="5200" dirty="0"/>
          </a:p>
        </p:txBody>
      </p:sp>
      <p:sp>
        <p:nvSpPr>
          <p:cNvPr id="7" name="Text 5"/>
          <p:cNvSpPr/>
          <p:nvPr/>
        </p:nvSpPr>
        <p:spPr>
          <a:xfrm>
            <a:off x="502920" y="2926080"/>
            <a:ext cx="7772400" cy="457200"/>
          </a:xfrm>
          <a:prstGeom prst="rect">
            <a:avLst/>
          </a:prstGeom>
          <a:noFill/>
          <a:ln/>
        </p:spPr>
        <p:txBody>
          <a:bodyPr wrap="square" rtlCol="0" anchor="ctr"/>
          <a:lstStyle/>
          <a:p>
            <a:pPr marL="0" indent="0">
              <a:buNone/>
            </a:pPr>
            <a:r>
              <a:rPr lang="en-US" sz="2000" i="1" dirty="0">
                <a:solidFill>
                  <a:srgbClr val="D4AF5A"/>
                </a:solidFill>
                <a:latin typeface="Calibri" pitchFamily="34" charset="0"/>
                <a:ea typeface="Calibri" pitchFamily="34" charset="-122"/>
                <a:cs typeface="Calibri" pitchFamily="34" charset="-120"/>
              </a:rPr>
              <a:t>Across E-Commerce Sites</a:t>
            </a:r>
            <a:endParaRPr lang="en-US" sz="2000" dirty="0"/>
          </a:p>
        </p:txBody>
      </p:sp>
      <p:sp>
        <p:nvSpPr>
          <p:cNvPr id="8" name="Shape 6"/>
          <p:cNvSpPr/>
          <p:nvPr/>
        </p:nvSpPr>
        <p:spPr>
          <a:xfrm>
            <a:off x="502920" y="3493008"/>
            <a:ext cx="3200400" cy="36576"/>
          </a:xfrm>
          <a:prstGeom prst="rect">
            <a:avLst/>
          </a:prstGeom>
          <a:solidFill>
            <a:srgbClr val="B8963E"/>
          </a:solidFill>
          <a:ln w="12700">
            <a:solidFill>
              <a:srgbClr val="B8963E"/>
            </a:solidFill>
            <a:prstDash val="solid"/>
          </a:ln>
        </p:spPr>
      </p:sp>
      <p:sp>
        <p:nvSpPr>
          <p:cNvPr id="9" name="Text 7"/>
          <p:cNvSpPr/>
          <p:nvPr/>
        </p:nvSpPr>
        <p:spPr>
          <a:xfrm>
            <a:off x="502920" y="3621024"/>
            <a:ext cx="8229600" cy="347472"/>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React.js   ·   Django / Flask   ·   BeautifulSoup   ·   Selenium</a:t>
            </a:r>
            <a:endParaRPr lang="en-US" sz="1200" dirty="0"/>
          </a:p>
        </p:txBody>
      </p:sp>
      <p:sp>
        <p:nvSpPr>
          <p:cNvPr id="10" name="Shape 8"/>
          <p:cNvSpPr/>
          <p:nvPr/>
        </p:nvSpPr>
        <p:spPr>
          <a:xfrm>
            <a:off x="0" y="4480560"/>
            <a:ext cx="9144000" cy="347472"/>
          </a:xfrm>
          <a:prstGeom prst="rect">
            <a:avLst/>
          </a:prstGeom>
          <a:solidFill>
            <a:srgbClr val="243554"/>
          </a:solidFill>
          <a:ln w="12700">
            <a:solidFill>
              <a:srgbClr val="243554"/>
            </a:solidFill>
            <a:prstDash val="solid"/>
          </a:ln>
        </p:spPr>
      </p:sp>
      <p:sp>
        <p:nvSpPr>
          <p:cNvPr id="11" name="Text 9"/>
          <p:cNvSpPr/>
          <p:nvPr/>
        </p:nvSpPr>
        <p:spPr>
          <a:xfrm>
            <a:off x="274320" y="4480560"/>
            <a:ext cx="8595360" cy="347472"/>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Amazon   ·   Flipkart   ·   Reliance Digital   ·   Croma   ·   Blinkit   ·   Myntra   ·   AJio   ·   bigbasket   ·   and more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sp>
      <p:sp>
        <p:nvSpPr>
          <p:cNvPr id="3" name="Shape 1"/>
          <p:cNvSpPr/>
          <p:nvPr/>
        </p:nvSpPr>
        <p:spPr>
          <a:xfrm>
            <a:off x="0" y="960120"/>
            <a:ext cx="9144000" cy="36576"/>
          </a:xfrm>
          <a:prstGeom prst="rect">
            <a:avLst/>
          </a:prstGeom>
          <a:solidFill>
            <a:srgbClr val="B8963E"/>
          </a:solidFill>
          <a:ln w="12700">
            <a:solidFill>
              <a:srgbClr val="B8963E"/>
            </a:solidFill>
            <a:prstDash val="solid"/>
          </a:ln>
        </p:spPr>
      </p:sp>
      <p:sp>
        <p:nvSpPr>
          <p:cNvPr id="4" name="Text 2"/>
          <p:cNvSpPr/>
          <p:nvPr/>
        </p:nvSpPr>
        <p:spPr>
          <a:xfrm>
            <a:off x="365760" y="118872"/>
            <a:ext cx="768096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Project Objective</a:t>
            </a:r>
            <a:endParaRPr lang="en-US" sz="2600" dirty="0"/>
          </a:p>
        </p:txBody>
      </p:sp>
      <p:sp>
        <p:nvSpPr>
          <p:cNvPr id="5" name="Text 3"/>
          <p:cNvSpPr/>
          <p:nvPr/>
        </p:nvSpPr>
        <p:spPr>
          <a:xfrm>
            <a:off x="8046720" y="118872"/>
            <a:ext cx="914400" cy="731520"/>
          </a:xfrm>
          <a:prstGeom prst="rect">
            <a:avLst/>
          </a:prstGeom>
          <a:noFill/>
          <a:ln/>
        </p:spPr>
        <p:txBody>
          <a:bodyPr wrap="square" rtlCol="0" anchor="ctr"/>
          <a:lstStyle/>
          <a:p>
            <a:pPr marL="0" indent="0" algn="r">
              <a:buNone/>
            </a:pPr>
            <a:r>
              <a:rPr lang="en-US" sz="2200" b="1" dirty="0">
                <a:solidFill>
                  <a:srgbClr val="D4AF5A"/>
                </a:solidFill>
                <a:latin typeface="Calibri" pitchFamily="34" charset="0"/>
                <a:ea typeface="Calibri" pitchFamily="34" charset="-122"/>
                <a:cs typeface="Calibri" pitchFamily="34" charset="-120"/>
              </a:rPr>
              <a:t>02</a:t>
            </a:r>
            <a:endParaRPr lang="en-US" sz="2200" dirty="0"/>
          </a:p>
        </p:txBody>
      </p:sp>
      <p:sp>
        <p:nvSpPr>
          <p:cNvPr id="6" name="Text 4"/>
          <p:cNvSpPr/>
          <p:nvPr/>
        </p:nvSpPr>
        <p:spPr>
          <a:xfrm>
            <a:off x="365760" y="1078992"/>
            <a:ext cx="8412480" cy="1828800"/>
          </a:xfrm>
          <a:prstGeom prst="rect">
            <a:avLst/>
          </a:prstGeom>
          <a:noFill/>
          <a:ln/>
        </p:spPr>
        <p:txBody>
          <a:bodyPr wrap="square" rtlCol="0" anchor="ctr"/>
          <a:lstStyle/>
          <a:p>
            <a:pPr marL="0" indent="0">
              <a:lnSpc>
                <a:spcPct val="140000"/>
              </a:lnSpc>
              <a:buNone/>
            </a:pPr>
            <a:r>
              <a:rPr lang="en-US" sz="1250" dirty="0">
                <a:solidFill>
                  <a:srgbClr val="4A5568"/>
                </a:solidFill>
                <a:latin typeface="Calibri" pitchFamily="34" charset="0"/>
                <a:ea typeface="Calibri" pitchFamily="34" charset="-122"/>
                <a:cs typeface="Calibri" pitchFamily="34" charset="-120"/>
              </a:rPr>
              <a:t>Online shopping has expanded rapidly across India, with consumers browsing multiple platforms — Amazon, Flipkart, Croma, Reliance Digital, Myntra, AJio, Blinkit, bigbasket, and others — simultaneously. Identifying the best available price remains a time-consuming, manual process.</a:t>
            </a:r>
            <a:endParaRPr lang="en-US" sz="1250" dirty="0"/>
          </a:p>
          <a:p>
            <a:pPr marL="0" indent="0">
              <a:lnSpc>
                <a:spcPct val="140000"/>
              </a:lnSpc>
              <a:buNone/>
            </a:pPr>
            <a:endParaRPr lang="en-US" sz="1250" dirty="0"/>
          </a:p>
          <a:p>
            <a:pPr marL="0" indent="0">
              <a:lnSpc>
                <a:spcPct val="140000"/>
              </a:lnSpc>
              <a:buNone/>
            </a:pPr>
            <a:r>
              <a:rPr lang="en-US" sz="1250" dirty="0">
                <a:solidFill>
                  <a:srgbClr val="4A5568"/>
                </a:solidFill>
                <a:latin typeface="Calibri" pitchFamily="34" charset="0"/>
                <a:ea typeface="Calibri" pitchFamily="34" charset="-122"/>
                <a:cs typeface="Calibri" pitchFamily="34" charset="-120"/>
              </a:rPr>
              <a:t>DealHunt addresses this by enabling users to search via SKU, brand name, or product URL and instantly retrieve live, comparable prices from multiple e-commerce stores in a single interface. The platform further provides price-trend history, a personal watchlist, and a configurable alert system that notifies users when a product falls below their target price.</a:t>
            </a:r>
            <a:endParaRPr lang="en-US" sz="1250" dirty="0"/>
          </a:p>
        </p:txBody>
      </p:sp>
      <p:sp>
        <p:nvSpPr>
          <p:cNvPr id="7" name="Shape 5"/>
          <p:cNvSpPr/>
          <p:nvPr/>
        </p:nvSpPr>
        <p:spPr>
          <a:xfrm>
            <a:off x="365760" y="2944368"/>
            <a:ext cx="2651760" cy="1051560"/>
          </a:xfrm>
          <a:prstGeom prst="rect">
            <a:avLst/>
          </a:prstGeom>
          <a:solidFill>
            <a:srgbClr val="1B2A4A"/>
          </a:solidFill>
          <a:ln w="12700">
            <a:solidFill>
              <a:srgbClr val="1B2A4A"/>
            </a:solidFill>
            <a:prstDash val="solid"/>
          </a:ln>
          <a:effectLst>
            <a:outerShdw blurRad="76200" dist="38100" dir="8100000" algn="bl" rotWithShape="0">
              <a:srgbClr val="000000">
                <a:alpha val="18000"/>
              </a:srgbClr>
            </a:outerShdw>
          </a:effectLst>
        </p:spPr>
      </p:sp>
      <p:sp>
        <p:nvSpPr>
          <p:cNvPr id="8" name="Shape 6"/>
          <p:cNvSpPr/>
          <p:nvPr/>
        </p:nvSpPr>
        <p:spPr>
          <a:xfrm>
            <a:off x="365760" y="2944368"/>
            <a:ext cx="2651760" cy="45720"/>
          </a:xfrm>
          <a:prstGeom prst="rect">
            <a:avLst/>
          </a:prstGeom>
          <a:solidFill>
            <a:srgbClr val="B8963E"/>
          </a:solidFill>
          <a:ln w="12700">
            <a:solidFill>
              <a:srgbClr val="B8963E"/>
            </a:solidFill>
            <a:prstDash val="solid"/>
          </a:ln>
        </p:spPr>
      </p:sp>
      <p:sp>
        <p:nvSpPr>
          <p:cNvPr id="9" name="Text 7"/>
          <p:cNvSpPr/>
          <p:nvPr/>
        </p:nvSpPr>
        <p:spPr>
          <a:xfrm>
            <a:off x="457200" y="2990088"/>
            <a:ext cx="246888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Multi-Platform</a:t>
            </a:r>
            <a:endParaRPr lang="en-US" sz="1500" dirty="0"/>
          </a:p>
        </p:txBody>
      </p:sp>
      <p:sp>
        <p:nvSpPr>
          <p:cNvPr id="10" name="Text 8"/>
          <p:cNvSpPr/>
          <p:nvPr/>
        </p:nvSpPr>
        <p:spPr>
          <a:xfrm>
            <a:off x="457200" y="3474720"/>
            <a:ext cx="2468880" cy="384048"/>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Live Price Comparison</a:t>
            </a:r>
            <a:endParaRPr lang="en-US" sz="1100" dirty="0"/>
          </a:p>
        </p:txBody>
      </p:sp>
      <p:sp>
        <p:nvSpPr>
          <p:cNvPr id="11" name="Shape 9"/>
          <p:cNvSpPr/>
          <p:nvPr/>
        </p:nvSpPr>
        <p:spPr>
          <a:xfrm>
            <a:off x="3200400" y="2944368"/>
            <a:ext cx="2651760" cy="1051560"/>
          </a:xfrm>
          <a:prstGeom prst="rect">
            <a:avLst/>
          </a:prstGeom>
          <a:solidFill>
            <a:srgbClr val="1B2A4A"/>
          </a:solidFill>
          <a:ln w="12700">
            <a:solidFill>
              <a:srgbClr val="1B2A4A"/>
            </a:solidFill>
            <a:prstDash val="solid"/>
          </a:ln>
          <a:effectLst>
            <a:outerShdw blurRad="76200" dist="38100" dir="8100000" algn="bl" rotWithShape="0">
              <a:srgbClr val="000000">
                <a:alpha val="18000"/>
              </a:srgbClr>
            </a:outerShdw>
          </a:effectLst>
        </p:spPr>
      </p:sp>
      <p:sp>
        <p:nvSpPr>
          <p:cNvPr id="12" name="Shape 10"/>
          <p:cNvSpPr/>
          <p:nvPr/>
        </p:nvSpPr>
        <p:spPr>
          <a:xfrm>
            <a:off x="3200400" y="2944368"/>
            <a:ext cx="2651760" cy="45720"/>
          </a:xfrm>
          <a:prstGeom prst="rect">
            <a:avLst/>
          </a:prstGeom>
          <a:solidFill>
            <a:srgbClr val="B8963E"/>
          </a:solidFill>
          <a:ln w="12700">
            <a:solidFill>
              <a:srgbClr val="B8963E"/>
            </a:solidFill>
            <a:prstDash val="solid"/>
          </a:ln>
        </p:spPr>
      </p:sp>
      <p:sp>
        <p:nvSpPr>
          <p:cNvPr id="13" name="Text 11"/>
          <p:cNvSpPr/>
          <p:nvPr/>
        </p:nvSpPr>
        <p:spPr>
          <a:xfrm>
            <a:off x="3291840" y="2990088"/>
            <a:ext cx="246888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 Search Modes</a:t>
            </a:r>
            <a:endParaRPr lang="en-US" sz="1500" dirty="0"/>
          </a:p>
        </p:txBody>
      </p:sp>
      <p:sp>
        <p:nvSpPr>
          <p:cNvPr id="14" name="Text 12"/>
          <p:cNvSpPr/>
          <p:nvPr/>
        </p:nvSpPr>
        <p:spPr>
          <a:xfrm>
            <a:off x="3291840" y="3474720"/>
            <a:ext cx="2468880" cy="384048"/>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SKU  ·  Brand  ·  URL</a:t>
            </a:r>
            <a:endParaRPr lang="en-US" sz="1100" dirty="0"/>
          </a:p>
        </p:txBody>
      </p:sp>
      <p:sp>
        <p:nvSpPr>
          <p:cNvPr id="15" name="Shape 13"/>
          <p:cNvSpPr/>
          <p:nvPr/>
        </p:nvSpPr>
        <p:spPr>
          <a:xfrm>
            <a:off x="6035040" y="2944368"/>
            <a:ext cx="2651760" cy="1051560"/>
          </a:xfrm>
          <a:prstGeom prst="rect">
            <a:avLst/>
          </a:prstGeom>
          <a:solidFill>
            <a:srgbClr val="1B2A4A"/>
          </a:solidFill>
          <a:ln w="12700">
            <a:solidFill>
              <a:srgbClr val="1B2A4A"/>
            </a:solidFill>
            <a:prstDash val="solid"/>
          </a:ln>
          <a:effectLst>
            <a:outerShdw blurRad="76200" dist="38100" dir="8100000" algn="bl" rotWithShape="0">
              <a:srgbClr val="000000">
                <a:alpha val="18000"/>
              </a:srgbClr>
            </a:outerShdw>
          </a:effectLst>
        </p:spPr>
      </p:sp>
      <p:sp>
        <p:nvSpPr>
          <p:cNvPr id="16" name="Shape 14"/>
          <p:cNvSpPr/>
          <p:nvPr/>
        </p:nvSpPr>
        <p:spPr>
          <a:xfrm>
            <a:off x="6035040" y="2944368"/>
            <a:ext cx="2651760" cy="45720"/>
          </a:xfrm>
          <a:prstGeom prst="rect">
            <a:avLst/>
          </a:prstGeom>
          <a:solidFill>
            <a:srgbClr val="B8963E"/>
          </a:solidFill>
          <a:ln w="12700">
            <a:solidFill>
              <a:srgbClr val="B8963E"/>
            </a:solidFill>
            <a:prstDash val="solid"/>
          </a:ln>
        </p:spPr>
      </p:sp>
      <p:sp>
        <p:nvSpPr>
          <p:cNvPr id="17" name="Text 15"/>
          <p:cNvSpPr/>
          <p:nvPr/>
        </p:nvSpPr>
        <p:spPr>
          <a:xfrm>
            <a:off x="6126480" y="2990088"/>
            <a:ext cx="246888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Smart Alerts</a:t>
            </a:r>
            <a:endParaRPr lang="en-US" sz="1500" dirty="0"/>
          </a:p>
        </p:txBody>
      </p:sp>
      <p:sp>
        <p:nvSpPr>
          <p:cNvPr id="18" name="Text 16"/>
          <p:cNvSpPr/>
          <p:nvPr/>
        </p:nvSpPr>
        <p:spPr>
          <a:xfrm>
            <a:off x="6126480" y="3474720"/>
            <a:ext cx="2468880" cy="384048"/>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Price Drop Notifications</a:t>
            </a:r>
            <a:endParaRPr lang="en-US" sz="1100" dirty="0"/>
          </a:p>
        </p:txBody>
      </p:sp>
      <p:sp>
        <p:nvSpPr>
          <p:cNvPr id="19" name="Shape 17"/>
          <p:cNvSpPr/>
          <p:nvPr/>
        </p:nvSpPr>
        <p:spPr>
          <a:xfrm>
            <a:off x="365760" y="4279392"/>
            <a:ext cx="64008" cy="64008"/>
          </a:xfrm>
          <a:prstGeom prst="rect">
            <a:avLst/>
          </a:prstGeom>
          <a:solidFill>
            <a:srgbClr val="B8963E"/>
          </a:solidFill>
          <a:ln w="12700">
            <a:solidFill>
              <a:srgbClr val="B8963E"/>
            </a:solidFill>
            <a:prstDash val="solid"/>
          </a:ln>
        </p:spPr>
      </p:sp>
      <p:sp>
        <p:nvSpPr>
          <p:cNvPr id="20" name="Text 18"/>
          <p:cNvSpPr/>
          <p:nvPr/>
        </p:nvSpPr>
        <p:spPr>
          <a:xfrm>
            <a:off x="566928" y="4251960"/>
            <a:ext cx="8229600" cy="2011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Search by SKU, brand name, or direct product URL</a:t>
            </a:r>
            <a:endParaRPr lang="en-US" sz="1050" dirty="0"/>
          </a:p>
        </p:txBody>
      </p:sp>
      <p:sp>
        <p:nvSpPr>
          <p:cNvPr id="21" name="Shape 19"/>
          <p:cNvSpPr/>
          <p:nvPr/>
        </p:nvSpPr>
        <p:spPr>
          <a:xfrm>
            <a:off x="365760" y="4480560"/>
            <a:ext cx="64008" cy="64008"/>
          </a:xfrm>
          <a:prstGeom prst="rect">
            <a:avLst/>
          </a:prstGeom>
          <a:solidFill>
            <a:srgbClr val="B8963E"/>
          </a:solidFill>
          <a:ln w="12700">
            <a:solidFill>
              <a:srgbClr val="B8963E"/>
            </a:solidFill>
            <a:prstDash val="solid"/>
          </a:ln>
        </p:spPr>
      </p:sp>
      <p:sp>
        <p:nvSpPr>
          <p:cNvPr id="22" name="Text 20"/>
          <p:cNvSpPr/>
          <p:nvPr/>
        </p:nvSpPr>
        <p:spPr>
          <a:xfrm>
            <a:off x="566928" y="4453128"/>
            <a:ext cx="8229600" cy="2011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Real-time price comparison across multiple e-commerce stores</a:t>
            </a:r>
            <a:endParaRPr lang="en-US" sz="1050" dirty="0"/>
          </a:p>
        </p:txBody>
      </p:sp>
      <p:sp>
        <p:nvSpPr>
          <p:cNvPr id="23" name="Shape 21"/>
          <p:cNvSpPr/>
          <p:nvPr/>
        </p:nvSpPr>
        <p:spPr>
          <a:xfrm>
            <a:off x="365760" y="4681728"/>
            <a:ext cx="64008" cy="64008"/>
          </a:xfrm>
          <a:prstGeom prst="rect">
            <a:avLst/>
          </a:prstGeom>
          <a:solidFill>
            <a:srgbClr val="B8963E"/>
          </a:solidFill>
          <a:ln w="12700">
            <a:solidFill>
              <a:srgbClr val="B8963E"/>
            </a:solidFill>
            <a:prstDash val="solid"/>
          </a:ln>
        </p:spPr>
      </p:sp>
      <p:sp>
        <p:nvSpPr>
          <p:cNvPr id="24" name="Text 22"/>
          <p:cNvSpPr/>
          <p:nvPr/>
        </p:nvSpPr>
        <p:spPr>
          <a:xfrm>
            <a:off x="566928" y="4654296"/>
            <a:ext cx="8229600" cy="2011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Price trend history, watchlist tracking, and smart price alerts</a:t>
            </a:r>
            <a:endParaRPr lang="en-US" sz="1050" dirty="0"/>
          </a:p>
        </p:txBody>
      </p:sp>
      <p:sp>
        <p:nvSpPr>
          <p:cNvPr id="25" name="Shape 23"/>
          <p:cNvSpPr/>
          <p:nvPr/>
        </p:nvSpPr>
        <p:spPr>
          <a:xfrm>
            <a:off x="0" y="4892040"/>
            <a:ext cx="9144000" cy="251460"/>
          </a:xfrm>
          <a:prstGeom prst="rect">
            <a:avLst/>
          </a:prstGeom>
          <a:solidFill>
            <a:srgbClr val="1B2A4A"/>
          </a:solidFill>
          <a:ln w="12700">
            <a:solidFill>
              <a:srgbClr val="1B2A4A"/>
            </a:solidFill>
            <a:prstDash val="solid"/>
          </a:ln>
        </p:spPr>
      </p:sp>
      <p:sp>
        <p:nvSpPr>
          <p:cNvPr id="26" name="Text 24"/>
          <p:cNvSpPr/>
          <p:nvPr/>
        </p:nvSpPr>
        <p:spPr>
          <a:xfrm>
            <a:off x="320040" y="4892040"/>
            <a:ext cx="8503920" cy="251460"/>
          </a:xfrm>
          <a:prstGeom prst="rect">
            <a:avLst/>
          </a:prstGeom>
          <a:noFill/>
          <a:ln/>
        </p:spPr>
        <p:txBody>
          <a:bodyPr wrap="square" rtlCol="0" anchor="ctr"/>
          <a:lstStyle/>
          <a:p>
            <a:pPr marL="0" indent="0" algn="ctr">
              <a:buNone/>
            </a:pPr>
            <a:r>
              <a:rPr lang="en-US" sz="900" dirty="0">
                <a:solidFill>
                  <a:srgbClr val="D4AF5A"/>
                </a:solidFill>
                <a:latin typeface="Calibri" pitchFamily="34" charset="0"/>
                <a:ea typeface="Calibri" pitchFamily="34" charset="-122"/>
                <a:cs typeface="Calibri" pitchFamily="34" charset="-120"/>
              </a:rPr>
              <a:t>Price Comparison Web Application  ·  Internship Project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A999BF62-96E2-41D2-204A-364B0ED53D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BE878A2-0F42-24D3-6CEE-A34D422E73F7}"/>
              </a:ext>
            </a:extLst>
          </p:cNvPr>
          <p:cNvSpPr/>
          <p:nvPr/>
        </p:nvSpPr>
        <p:spPr>
          <a:xfrm>
            <a:off x="0" y="0"/>
            <a:ext cx="9144000" cy="960120"/>
          </a:xfrm>
          <a:prstGeom prst="rect">
            <a:avLst/>
          </a:prstGeom>
          <a:solidFill>
            <a:srgbClr val="1B2A4A"/>
          </a:solidFill>
          <a:ln w="12700">
            <a:solidFill>
              <a:srgbClr val="1B2A4A"/>
            </a:solidFill>
            <a:prstDash val="solid"/>
          </a:ln>
        </p:spPr>
      </p:sp>
      <p:sp>
        <p:nvSpPr>
          <p:cNvPr id="3" name="Shape 1">
            <a:extLst>
              <a:ext uri="{FF2B5EF4-FFF2-40B4-BE49-F238E27FC236}">
                <a16:creationId xmlns:a16="http://schemas.microsoft.com/office/drawing/2014/main" id="{7471B623-62BA-B95F-35D2-F86C3EF6C5FE}"/>
              </a:ext>
            </a:extLst>
          </p:cNvPr>
          <p:cNvSpPr/>
          <p:nvPr/>
        </p:nvSpPr>
        <p:spPr>
          <a:xfrm>
            <a:off x="0" y="960120"/>
            <a:ext cx="9144000" cy="36576"/>
          </a:xfrm>
          <a:prstGeom prst="rect">
            <a:avLst/>
          </a:prstGeom>
          <a:solidFill>
            <a:srgbClr val="B8963E"/>
          </a:solidFill>
          <a:ln w="12700">
            <a:solidFill>
              <a:srgbClr val="B8963E"/>
            </a:solidFill>
            <a:prstDash val="solid"/>
          </a:ln>
        </p:spPr>
      </p:sp>
      <p:sp>
        <p:nvSpPr>
          <p:cNvPr id="4" name="Text 2">
            <a:extLst>
              <a:ext uri="{FF2B5EF4-FFF2-40B4-BE49-F238E27FC236}">
                <a16:creationId xmlns:a16="http://schemas.microsoft.com/office/drawing/2014/main" id="{E40ADAEF-BDEF-FCCB-4015-4DAC1EACBCD8}"/>
              </a:ext>
            </a:extLst>
          </p:cNvPr>
          <p:cNvSpPr/>
          <p:nvPr/>
        </p:nvSpPr>
        <p:spPr>
          <a:xfrm>
            <a:off x="365760" y="118872"/>
            <a:ext cx="7680960" cy="731520"/>
          </a:xfrm>
          <a:prstGeom prst="rect">
            <a:avLst/>
          </a:prstGeom>
          <a:noFill/>
          <a:ln/>
        </p:spPr>
        <p:txBody>
          <a:bodyPr wrap="square" rtlCol="0" anchor="ctr"/>
          <a:lstStyle/>
          <a:p>
            <a:r>
              <a:rPr lang="en-US" sz="2800" b="1" dirty="0">
                <a:solidFill>
                  <a:schemeClr val="bg1"/>
                </a:solidFill>
              </a:rPr>
              <a:t>Problem Statement</a:t>
            </a:r>
          </a:p>
        </p:txBody>
      </p:sp>
      <p:sp>
        <p:nvSpPr>
          <p:cNvPr id="5" name="Text 3">
            <a:extLst>
              <a:ext uri="{FF2B5EF4-FFF2-40B4-BE49-F238E27FC236}">
                <a16:creationId xmlns:a16="http://schemas.microsoft.com/office/drawing/2014/main" id="{6D636BF0-CCEC-8713-0433-B0D762B5010B}"/>
              </a:ext>
            </a:extLst>
          </p:cNvPr>
          <p:cNvSpPr/>
          <p:nvPr/>
        </p:nvSpPr>
        <p:spPr>
          <a:xfrm>
            <a:off x="8046720" y="118872"/>
            <a:ext cx="914400" cy="731520"/>
          </a:xfrm>
          <a:prstGeom prst="rect">
            <a:avLst/>
          </a:prstGeom>
          <a:noFill/>
          <a:ln/>
        </p:spPr>
        <p:txBody>
          <a:bodyPr wrap="square" rtlCol="0" anchor="ctr"/>
          <a:lstStyle/>
          <a:p>
            <a:pPr marL="0" indent="0" algn="r">
              <a:buNone/>
            </a:pPr>
            <a:r>
              <a:rPr lang="en-US" sz="2200" b="1" dirty="0">
                <a:solidFill>
                  <a:srgbClr val="D4AF5A"/>
                </a:solidFill>
                <a:latin typeface="Calibri" pitchFamily="34" charset="0"/>
                <a:ea typeface="Calibri" pitchFamily="34" charset="-122"/>
                <a:cs typeface="Calibri" pitchFamily="34" charset="-120"/>
              </a:rPr>
              <a:t>03</a:t>
            </a:r>
            <a:endParaRPr lang="en-US" sz="2200" dirty="0"/>
          </a:p>
        </p:txBody>
      </p:sp>
      <p:sp>
        <p:nvSpPr>
          <p:cNvPr id="6" name="Text 4">
            <a:extLst>
              <a:ext uri="{FF2B5EF4-FFF2-40B4-BE49-F238E27FC236}">
                <a16:creationId xmlns:a16="http://schemas.microsoft.com/office/drawing/2014/main" id="{F376947A-0E56-2543-6D72-B72F5A95375F}"/>
              </a:ext>
            </a:extLst>
          </p:cNvPr>
          <p:cNvSpPr/>
          <p:nvPr/>
        </p:nvSpPr>
        <p:spPr>
          <a:xfrm>
            <a:off x="320040" y="1133856"/>
            <a:ext cx="8412480" cy="1828800"/>
          </a:xfrm>
          <a:prstGeom prst="rect">
            <a:avLst/>
          </a:prstGeom>
          <a:noFill/>
          <a:ln/>
        </p:spPr>
        <p:txBody>
          <a:bodyPr wrap="square" rtlCol="0" anchor="ctr"/>
          <a:lstStyle/>
          <a:p>
            <a:endParaRPr lang="en-US" sz="1400" b="1" dirty="0"/>
          </a:p>
          <a:p>
            <a:pPr marL="285750" indent="-285750">
              <a:buFont typeface="Arial" panose="020B0604020202020204" pitchFamily="34" charset="0"/>
              <a:buChar char="•"/>
            </a:pPr>
            <a:r>
              <a:rPr lang="en-US" sz="1400" dirty="0"/>
              <a:t>Online shopping requires users to visit multiple platforms like Amazon, Flipkart, etc. </a:t>
            </a:r>
          </a:p>
          <a:p>
            <a:pPr marL="285750" indent="-285750">
              <a:buFont typeface="Arial" panose="020B0604020202020204" pitchFamily="34" charset="0"/>
              <a:buChar char="•"/>
            </a:pPr>
            <a:r>
              <a:rPr lang="en-US" sz="1400" dirty="0"/>
              <a:t>Comparing prices manually is time-consuming and inefficient .</a:t>
            </a:r>
          </a:p>
          <a:p>
            <a:pPr marL="285750" indent="-285750">
              <a:buFont typeface="Arial" panose="020B0604020202020204" pitchFamily="34" charset="0"/>
              <a:buChar char="•"/>
            </a:pPr>
            <a:r>
              <a:rPr lang="en-US" sz="1400" dirty="0"/>
              <a:t>Prices vary across different websites for the same product .</a:t>
            </a:r>
          </a:p>
          <a:p>
            <a:pPr marL="285750" indent="-285750">
              <a:buFont typeface="Arial" panose="020B0604020202020204" pitchFamily="34" charset="0"/>
              <a:buChar char="•"/>
            </a:pPr>
            <a:r>
              <a:rPr lang="en-US" sz="1400" dirty="0"/>
              <a:t>No single platform to view all prices in one place.</a:t>
            </a:r>
          </a:p>
          <a:p>
            <a:pPr marL="285750" indent="-285750">
              <a:buFont typeface="Arial" panose="020B0604020202020204" pitchFamily="34" charset="0"/>
              <a:buChar char="•"/>
            </a:pPr>
            <a:r>
              <a:rPr lang="en-US" sz="1400" dirty="0"/>
              <a:t>Users may miss the best deals due to lack of comparison.</a:t>
            </a:r>
          </a:p>
          <a:p>
            <a:pPr marL="0" indent="0">
              <a:lnSpc>
                <a:spcPct val="140000"/>
              </a:lnSpc>
              <a:buNone/>
            </a:pPr>
            <a:endParaRPr lang="en-US" sz="1250" dirty="0"/>
          </a:p>
        </p:txBody>
      </p:sp>
      <p:sp>
        <p:nvSpPr>
          <p:cNvPr id="7" name="Shape 5">
            <a:extLst>
              <a:ext uri="{FF2B5EF4-FFF2-40B4-BE49-F238E27FC236}">
                <a16:creationId xmlns:a16="http://schemas.microsoft.com/office/drawing/2014/main" id="{7AD67F27-5757-45E2-A4D4-FCEAFBD1D53D}"/>
              </a:ext>
            </a:extLst>
          </p:cNvPr>
          <p:cNvSpPr/>
          <p:nvPr/>
        </p:nvSpPr>
        <p:spPr>
          <a:xfrm>
            <a:off x="1099058" y="3004439"/>
            <a:ext cx="2651760" cy="1051560"/>
          </a:xfrm>
          <a:prstGeom prst="rect">
            <a:avLst/>
          </a:prstGeom>
          <a:solidFill>
            <a:srgbClr val="1B2A4A"/>
          </a:solidFill>
          <a:ln w="12700">
            <a:solidFill>
              <a:srgbClr val="1B2A4A"/>
            </a:solidFill>
            <a:prstDash val="solid"/>
          </a:ln>
          <a:effectLst>
            <a:outerShdw blurRad="76200" dist="38100" dir="8100000" algn="bl" rotWithShape="0">
              <a:srgbClr val="000000">
                <a:alpha val="18000"/>
              </a:srgbClr>
            </a:outerShdw>
          </a:effectLst>
        </p:spPr>
      </p:sp>
      <p:sp>
        <p:nvSpPr>
          <p:cNvPr id="8" name="Shape 6">
            <a:extLst>
              <a:ext uri="{FF2B5EF4-FFF2-40B4-BE49-F238E27FC236}">
                <a16:creationId xmlns:a16="http://schemas.microsoft.com/office/drawing/2014/main" id="{D2A56C9B-7F38-BCBB-DE29-0AC90D1A2125}"/>
              </a:ext>
            </a:extLst>
          </p:cNvPr>
          <p:cNvSpPr/>
          <p:nvPr/>
        </p:nvSpPr>
        <p:spPr>
          <a:xfrm>
            <a:off x="1099058" y="2967228"/>
            <a:ext cx="2651760" cy="45720"/>
          </a:xfrm>
          <a:prstGeom prst="rect">
            <a:avLst/>
          </a:prstGeom>
          <a:solidFill>
            <a:srgbClr val="B8963E"/>
          </a:solidFill>
          <a:ln w="12700">
            <a:solidFill>
              <a:srgbClr val="B8963E"/>
            </a:solidFill>
            <a:prstDash val="solid"/>
          </a:ln>
        </p:spPr>
      </p:sp>
      <p:sp>
        <p:nvSpPr>
          <p:cNvPr id="9" name="Text 7">
            <a:extLst>
              <a:ext uri="{FF2B5EF4-FFF2-40B4-BE49-F238E27FC236}">
                <a16:creationId xmlns:a16="http://schemas.microsoft.com/office/drawing/2014/main" id="{5E66372C-804F-073D-5FE2-B358C2E7297D}"/>
              </a:ext>
            </a:extLst>
          </p:cNvPr>
          <p:cNvSpPr/>
          <p:nvPr/>
        </p:nvSpPr>
        <p:spPr>
          <a:xfrm>
            <a:off x="1089660" y="2990088"/>
            <a:ext cx="2670556"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 Single View Platform</a:t>
            </a:r>
            <a:endParaRPr lang="en-US" sz="1500" dirty="0"/>
          </a:p>
        </p:txBody>
      </p:sp>
      <p:sp>
        <p:nvSpPr>
          <p:cNvPr id="10" name="Text 8">
            <a:extLst>
              <a:ext uri="{FF2B5EF4-FFF2-40B4-BE49-F238E27FC236}">
                <a16:creationId xmlns:a16="http://schemas.microsoft.com/office/drawing/2014/main" id="{5C4D2854-CB9C-0AA8-8320-6883C80ABCB5}"/>
              </a:ext>
            </a:extLst>
          </p:cNvPr>
          <p:cNvSpPr/>
          <p:nvPr/>
        </p:nvSpPr>
        <p:spPr>
          <a:xfrm>
            <a:off x="1212850" y="3474720"/>
            <a:ext cx="2468880" cy="384048"/>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Manual Price Comparison</a:t>
            </a:r>
            <a:endParaRPr lang="en-US" sz="1100" dirty="0"/>
          </a:p>
        </p:txBody>
      </p:sp>
      <p:sp>
        <p:nvSpPr>
          <p:cNvPr id="13" name="Text 11">
            <a:extLst>
              <a:ext uri="{FF2B5EF4-FFF2-40B4-BE49-F238E27FC236}">
                <a16:creationId xmlns:a16="http://schemas.microsoft.com/office/drawing/2014/main" id="{503B41D0-B25B-10D2-22A6-225DFB060B6C}"/>
              </a:ext>
            </a:extLst>
          </p:cNvPr>
          <p:cNvSpPr/>
          <p:nvPr/>
        </p:nvSpPr>
        <p:spPr>
          <a:xfrm>
            <a:off x="3717290" y="3355848"/>
            <a:ext cx="246888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 Modes</a:t>
            </a:r>
            <a:endParaRPr lang="en-US" sz="1500" dirty="0"/>
          </a:p>
        </p:txBody>
      </p:sp>
      <p:sp>
        <p:nvSpPr>
          <p:cNvPr id="15" name="Shape 13">
            <a:extLst>
              <a:ext uri="{FF2B5EF4-FFF2-40B4-BE49-F238E27FC236}">
                <a16:creationId xmlns:a16="http://schemas.microsoft.com/office/drawing/2014/main" id="{640D2E18-4BED-A947-BBE4-DF240A5C7544}"/>
              </a:ext>
            </a:extLst>
          </p:cNvPr>
          <p:cNvSpPr/>
          <p:nvPr/>
        </p:nvSpPr>
        <p:spPr>
          <a:xfrm>
            <a:off x="4441190" y="2967228"/>
            <a:ext cx="2651760" cy="1051560"/>
          </a:xfrm>
          <a:prstGeom prst="rect">
            <a:avLst/>
          </a:prstGeom>
          <a:solidFill>
            <a:srgbClr val="1B2A4A"/>
          </a:solidFill>
          <a:ln w="12700">
            <a:solidFill>
              <a:srgbClr val="1B2A4A"/>
            </a:solidFill>
            <a:prstDash val="solid"/>
          </a:ln>
          <a:effectLst>
            <a:outerShdw blurRad="76200" dist="38100" dir="8100000" algn="bl" rotWithShape="0">
              <a:srgbClr val="000000">
                <a:alpha val="18000"/>
              </a:srgbClr>
            </a:outerShdw>
          </a:effectLst>
        </p:spPr>
        <p:txBody>
          <a:bodyPr/>
          <a:lstStyle/>
          <a:p>
            <a:endParaRPr lang="en-IN" dirty="0"/>
          </a:p>
        </p:txBody>
      </p:sp>
      <p:sp>
        <p:nvSpPr>
          <p:cNvPr id="16" name="Shape 14">
            <a:extLst>
              <a:ext uri="{FF2B5EF4-FFF2-40B4-BE49-F238E27FC236}">
                <a16:creationId xmlns:a16="http://schemas.microsoft.com/office/drawing/2014/main" id="{482B70DB-8E63-731C-EB2E-F7D0F8E85115}"/>
              </a:ext>
            </a:extLst>
          </p:cNvPr>
          <p:cNvSpPr/>
          <p:nvPr/>
        </p:nvSpPr>
        <p:spPr>
          <a:xfrm>
            <a:off x="4450588" y="2958719"/>
            <a:ext cx="2651760" cy="45720"/>
          </a:xfrm>
          <a:prstGeom prst="rect">
            <a:avLst/>
          </a:prstGeom>
          <a:solidFill>
            <a:srgbClr val="B8963E"/>
          </a:solidFill>
          <a:ln w="12700">
            <a:solidFill>
              <a:srgbClr val="B8963E"/>
            </a:solidFill>
            <a:prstDash val="solid"/>
          </a:ln>
        </p:spPr>
      </p:sp>
      <p:sp>
        <p:nvSpPr>
          <p:cNvPr id="17" name="Text 15">
            <a:extLst>
              <a:ext uri="{FF2B5EF4-FFF2-40B4-BE49-F238E27FC236}">
                <a16:creationId xmlns:a16="http://schemas.microsoft.com/office/drawing/2014/main" id="{AE7949D3-F904-C344-5D70-06AB46AEAD4D}"/>
              </a:ext>
            </a:extLst>
          </p:cNvPr>
          <p:cNvSpPr/>
          <p:nvPr/>
        </p:nvSpPr>
        <p:spPr>
          <a:xfrm>
            <a:off x="3017520" y="2990088"/>
            <a:ext cx="55778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Visit Multiple Platform</a:t>
            </a:r>
            <a:endParaRPr lang="en-US" sz="1500" dirty="0"/>
          </a:p>
        </p:txBody>
      </p:sp>
      <p:sp>
        <p:nvSpPr>
          <p:cNvPr id="18" name="Text 16">
            <a:extLst>
              <a:ext uri="{FF2B5EF4-FFF2-40B4-BE49-F238E27FC236}">
                <a16:creationId xmlns:a16="http://schemas.microsoft.com/office/drawing/2014/main" id="{30268FE2-D221-7965-8A76-CA68D7BB6CBA}"/>
              </a:ext>
            </a:extLst>
          </p:cNvPr>
          <p:cNvSpPr/>
          <p:nvPr/>
        </p:nvSpPr>
        <p:spPr>
          <a:xfrm>
            <a:off x="4417060" y="3498342"/>
            <a:ext cx="2468880" cy="384048"/>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No Price Drop Notifications</a:t>
            </a:r>
            <a:endParaRPr lang="en-US" sz="1100" dirty="0"/>
          </a:p>
        </p:txBody>
      </p:sp>
      <p:sp>
        <p:nvSpPr>
          <p:cNvPr id="20" name="Text 18">
            <a:extLst>
              <a:ext uri="{FF2B5EF4-FFF2-40B4-BE49-F238E27FC236}">
                <a16:creationId xmlns:a16="http://schemas.microsoft.com/office/drawing/2014/main" id="{77E0A055-EBB6-0981-5074-E5E5AA039CB3}"/>
              </a:ext>
            </a:extLst>
          </p:cNvPr>
          <p:cNvSpPr/>
          <p:nvPr/>
        </p:nvSpPr>
        <p:spPr>
          <a:xfrm>
            <a:off x="566928" y="4251960"/>
            <a:ext cx="8229600" cy="2011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a:t>
            </a:r>
            <a:endParaRPr lang="en-US" sz="1050" dirty="0"/>
          </a:p>
        </p:txBody>
      </p:sp>
      <p:sp>
        <p:nvSpPr>
          <p:cNvPr id="22" name="Text 20">
            <a:extLst>
              <a:ext uri="{FF2B5EF4-FFF2-40B4-BE49-F238E27FC236}">
                <a16:creationId xmlns:a16="http://schemas.microsoft.com/office/drawing/2014/main" id="{8C4170EB-87BA-4FFA-FFC5-235A06700372}"/>
              </a:ext>
            </a:extLst>
          </p:cNvPr>
          <p:cNvSpPr/>
          <p:nvPr/>
        </p:nvSpPr>
        <p:spPr>
          <a:xfrm>
            <a:off x="566928" y="4453128"/>
            <a:ext cx="8229600" cy="2011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a:t>
            </a:r>
            <a:endParaRPr lang="en-US" sz="1050" dirty="0"/>
          </a:p>
        </p:txBody>
      </p:sp>
      <p:sp>
        <p:nvSpPr>
          <p:cNvPr id="24" name="Text 22">
            <a:extLst>
              <a:ext uri="{FF2B5EF4-FFF2-40B4-BE49-F238E27FC236}">
                <a16:creationId xmlns:a16="http://schemas.microsoft.com/office/drawing/2014/main" id="{6F14DF24-EAC6-5C81-7BB9-98789B5A97C6}"/>
              </a:ext>
            </a:extLst>
          </p:cNvPr>
          <p:cNvSpPr/>
          <p:nvPr/>
        </p:nvSpPr>
        <p:spPr>
          <a:xfrm>
            <a:off x="566928" y="4654296"/>
            <a:ext cx="8229600" cy="201168"/>
          </a:xfrm>
          <a:prstGeom prst="rect">
            <a:avLst/>
          </a:prstGeom>
          <a:noFill/>
          <a:ln/>
        </p:spPr>
        <p:txBody>
          <a:bodyPr wrap="square" rtlCol="0" anchor="ctr"/>
          <a:lstStyle/>
          <a:p>
            <a:pPr marL="0" indent="0">
              <a:buNone/>
            </a:pPr>
            <a:endParaRPr lang="en-US" sz="1050" dirty="0"/>
          </a:p>
        </p:txBody>
      </p:sp>
      <p:sp>
        <p:nvSpPr>
          <p:cNvPr id="25" name="Shape 23">
            <a:extLst>
              <a:ext uri="{FF2B5EF4-FFF2-40B4-BE49-F238E27FC236}">
                <a16:creationId xmlns:a16="http://schemas.microsoft.com/office/drawing/2014/main" id="{2DC586B9-D9B0-1A53-3F47-DFC31208F526}"/>
              </a:ext>
            </a:extLst>
          </p:cNvPr>
          <p:cNvSpPr/>
          <p:nvPr/>
        </p:nvSpPr>
        <p:spPr>
          <a:xfrm>
            <a:off x="0" y="4892040"/>
            <a:ext cx="9144000" cy="251460"/>
          </a:xfrm>
          <a:prstGeom prst="rect">
            <a:avLst/>
          </a:prstGeom>
          <a:solidFill>
            <a:srgbClr val="1B2A4A"/>
          </a:solidFill>
          <a:ln w="12700">
            <a:solidFill>
              <a:srgbClr val="1B2A4A"/>
            </a:solidFill>
            <a:prstDash val="solid"/>
          </a:ln>
        </p:spPr>
      </p:sp>
      <p:sp>
        <p:nvSpPr>
          <p:cNvPr id="26" name="Text 24">
            <a:extLst>
              <a:ext uri="{FF2B5EF4-FFF2-40B4-BE49-F238E27FC236}">
                <a16:creationId xmlns:a16="http://schemas.microsoft.com/office/drawing/2014/main" id="{0D515079-829B-DF68-58DA-72474A91AA01}"/>
              </a:ext>
            </a:extLst>
          </p:cNvPr>
          <p:cNvSpPr/>
          <p:nvPr/>
        </p:nvSpPr>
        <p:spPr>
          <a:xfrm>
            <a:off x="320040" y="4892040"/>
            <a:ext cx="8503920" cy="251460"/>
          </a:xfrm>
          <a:prstGeom prst="rect">
            <a:avLst/>
          </a:prstGeom>
          <a:noFill/>
          <a:ln/>
        </p:spPr>
        <p:txBody>
          <a:bodyPr wrap="square" rtlCol="0" anchor="ctr"/>
          <a:lstStyle/>
          <a:p>
            <a:pPr marL="0" indent="0" algn="ctr">
              <a:buNone/>
            </a:pPr>
            <a:r>
              <a:rPr lang="en-US" sz="900" dirty="0">
                <a:solidFill>
                  <a:srgbClr val="D4AF5A"/>
                </a:solidFill>
                <a:latin typeface="Calibri" pitchFamily="34" charset="0"/>
                <a:ea typeface="Calibri" pitchFamily="34" charset="-122"/>
                <a:cs typeface="Calibri" pitchFamily="34" charset="-120"/>
              </a:rPr>
              <a:t>Price Comparison Web Application  ·  Internship Project</a:t>
            </a:r>
            <a:endParaRPr lang="en-US" sz="900" dirty="0"/>
          </a:p>
        </p:txBody>
      </p:sp>
    </p:spTree>
    <p:extLst>
      <p:ext uri="{BB962C8B-B14F-4D97-AF65-F5344CB8AC3E}">
        <p14:creationId xmlns:p14="http://schemas.microsoft.com/office/powerpoint/2010/main" val="1470646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6733A1B6-7633-EE3C-B0E1-18F40E8B82C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291C1FE-3045-D45D-3939-FD25D6A7FCC1}"/>
              </a:ext>
            </a:extLst>
          </p:cNvPr>
          <p:cNvSpPr/>
          <p:nvPr/>
        </p:nvSpPr>
        <p:spPr>
          <a:xfrm>
            <a:off x="0" y="0"/>
            <a:ext cx="9144000" cy="960120"/>
          </a:xfrm>
          <a:prstGeom prst="rect">
            <a:avLst/>
          </a:prstGeom>
          <a:solidFill>
            <a:srgbClr val="1B2A4A"/>
          </a:solidFill>
          <a:ln w="12700">
            <a:solidFill>
              <a:srgbClr val="1B2A4A"/>
            </a:solidFill>
            <a:prstDash val="solid"/>
          </a:ln>
        </p:spPr>
      </p:sp>
      <p:sp>
        <p:nvSpPr>
          <p:cNvPr id="3" name="Shape 1">
            <a:extLst>
              <a:ext uri="{FF2B5EF4-FFF2-40B4-BE49-F238E27FC236}">
                <a16:creationId xmlns:a16="http://schemas.microsoft.com/office/drawing/2014/main" id="{294BF760-FE56-8727-787A-434DC4C48C0B}"/>
              </a:ext>
            </a:extLst>
          </p:cNvPr>
          <p:cNvSpPr/>
          <p:nvPr/>
        </p:nvSpPr>
        <p:spPr>
          <a:xfrm>
            <a:off x="0" y="960120"/>
            <a:ext cx="9144000" cy="36576"/>
          </a:xfrm>
          <a:prstGeom prst="rect">
            <a:avLst/>
          </a:prstGeom>
          <a:solidFill>
            <a:srgbClr val="B8963E"/>
          </a:solidFill>
          <a:ln w="12700">
            <a:solidFill>
              <a:srgbClr val="B8963E"/>
            </a:solidFill>
            <a:prstDash val="solid"/>
          </a:ln>
        </p:spPr>
      </p:sp>
      <p:sp>
        <p:nvSpPr>
          <p:cNvPr id="4" name="Text 2">
            <a:extLst>
              <a:ext uri="{FF2B5EF4-FFF2-40B4-BE49-F238E27FC236}">
                <a16:creationId xmlns:a16="http://schemas.microsoft.com/office/drawing/2014/main" id="{35A5FCAD-88D6-7F1C-C963-7AA3AD624553}"/>
              </a:ext>
            </a:extLst>
          </p:cNvPr>
          <p:cNvSpPr/>
          <p:nvPr/>
        </p:nvSpPr>
        <p:spPr>
          <a:xfrm>
            <a:off x="365760" y="118872"/>
            <a:ext cx="7680960" cy="731520"/>
          </a:xfrm>
          <a:prstGeom prst="rect">
            <a:avLst/>
          </a:prstGeom>
          <a:noFill/>
          <a:ln/>
        </p:spPr>
        <p:txBody>
          <a:bodyPr wrap="square" rtlCol="0" anchor="ctr"/>
          <a:lstStyle/>
          <a:p>
            <a:r>
              <a:rPr lang="en-US" sz="2800" b="1" dirty="0">
                <a:solidFill>
                  <a:schemeClr val="bg1"/>
                </a:solidFill>
              </a:rPr>
              <a:t>Solution</a:t>
            </a:r>
          </a:p>
        </p:txBody>
      </p:sp>
      <p:sp>
        <p:nvSpPr>
          <p:cNvPr id="5" name="Text 3">
            <a:extLst>
              <a:ext uri="{FF2B5EF4-FFF2-40B4-BE49-F238E27FC236}">
                <a16:creationId xmlns:a16="http://schemas.microsoft.com/office/drawing/2014/main" id="{E7FC7353-824C-CB56-C6EB-1A544199963A}"/>
              </a:ext>
            </a:extLst>
          </p:cNvPr>
          <p:cNvSpPr/>
          <p:nvPr/>
        </p:nvSpPr>
        <p:spPr>
          <a:xfrm>
            <a:off x="8046720" y="118872"/>
            <a:ext cx="914400" cy="731520"/>
          </a:xfrm>
          <a:prstGeom prst="rect">
            <a:avLst/>
          </a:prstGeom>
          <a:noFill/>
          <a:ln/>
        </p:spPr>
        <p:txBody>
          <a:bodyPr wrap="square" rtlCol="0" anchor="ctr"/>
          <a:lstStyle/>
          <a:p>
            <a:pPr marL="0" indent="0" algn="r">
              <a:buNone/>
            </a:pPr>
            <a:r>
              <a:rPr lang="en-US" sz="2200" b="1" dirty="0">
                <a:solidFill>
                  <a:srgbClr val="D4AF5A"/>
                </a:solidFill>
                <a:latin typeface="Calibri" pitchFamily="34" charset="0"/>
                <a:ea typeface="Calibri" pitchFamily="34" charset="-122"/>
                <a:cs typeface="Calibri" pitchFamily="34" charset="-120"/>
              </a:rPr>
              <a:t>04</a:t>
            </a:r>
            <a:endParaRPr lang="en-US" sz="2200" dirty="0"/>
          </a:p>
        </p:txBody>
      </p:sp>
      <p:sp>
        <p:nvSpPr>
          <p:cNvPr id="6" name="Text 4">
            <a:extLst>
              <a:ext uri="{FF2B5EF4-FFF2-40B4-BE49-F238E27FC236}">
                <a16:creationId xmlns:a16="http://schemas.microsoft.com/office/drawing/2014/main" id="{6448B2DC-262E-38FC-8497-5CC75DD8D6E5}"/>
              </a:ext>
            </a:extLst>
          </p:cNvPr>
          <p:cNvSpPr/>
          <p:nvPr/>
        </p:nvSpPr>
        <p:spPr>
          <a:xfrm>
            <a:off x="320040" y="1133856"/>
            <a:ext cx="8412480" cy="1828800"/>
          </a:xfrm>
          <a:prstGeom prst="rect">
            <a:avLst/>
          </a:prstGeom>
          <a:noFill/>
          <a:ln/>
        </p:spPr>
        <p:txBody>
          <a:bodyPr wrap="square" rtlCol="0" anchor="ctr"/>
          <a:lstStyle/>
          <a:p>
            <a:endParaRPr lang="en-US" sz="1400" b="1" dirty="0"/>
          </a:p>
          <a:p>
            <a:pPr marL="285750" indent="-285750">
              <a:buFont typeface="Arial" panose="020B0604020202020204" pitchFamily="34" charset="0"/>
              <a:buChar char="•"/>
            </a:pPr>
            <a:r>
              <a:rPr lang="en-US" sz="1400" dirty="0"/>
              <a:t>Developed a </a:t>
            </a:r>
            <a:r>
              <a:rPr lang="en-US" sz="1400" b="1" dirty="0"/>
              <a:t>Price Comparison Web Application</a:t>
            </a:r>
            <a:r>
              <a:rPr lang="en-US" sz="1400" dirty="0"/>
              <a:t> </a:t>
            </a:r>
          </a:p>
          <a:p>
            <a:pPr marL="285750" indent="-285750">
              <a:buFont typeface="Arial" panose="020B0604020202020204" pitchFamily="34" charset="0"/>
              <a:buChar char="•"/>
            </a:pPr>
            <a:r>
              <a:rPr lang="en-US" sz="1400" dirty="0"/>
              <a:t>Users can search products using name, SKU, or product link </a:t>
            </a:r>
          </a:p>
          <a:p>
            <a:pPr marL="285750" indent="-285750">
              <a:buFont typeface="Arial" panose="020B0604020202020204" pitchFamily="34" charset="0"/>
              <a:buChar char="•"/>
            </a:pPr>
            <a:r>
              <a:rPr lang="en-US" sz="1400" dirty="0"/>
              <a:t>System collects prices from multiple e-commerce websites </a:t>
            </a:r>
          </a:p>
          <a:p>
            <a:pPr marL="285750" indent="-285750">
              <a:buFont typeface="Arial" panose="020B0604020202020204" pitchFamily="34" charset="0"/>
              <a:buChar char="•"/>
            </a:pPr>
            <a:r>
              <a:rPr lang="en-US" sz="1400" dirty="0"/>
              <a:t>Displays all prices in one place for easy comparison </a:t>
            </a:r>
          </a:p>
          <a:p>
            <a:pPr marL="285750" indent="-285750">
              <a:buFont typeface="Arial" panose="020B0604020202020204" pitchFamily="34" charset="0"/>
              <a:buChar char="•"/>
            </a:pPr>
            <a:r>
              <a:rPr lang="en-US" sz="1400" dirty="0"/>
              <a:t>Highlights the </a:t>
            </a:r>
            <a:r>
              <a:rPr lang="en-US" sz="1400" b="1" dirty="0"/>
              <a:t>lowest price and best deal</a:t>
            </a:r>
            <a:r>
              <a:rPr lang="en-US" sz="1400" dirty="0"/>
              <a:t> </a:t>
            </a:r>
          </a:p>
          <a:p>
            <a:pPr marL="285750" indent="-285750">
              <a:buFont typeface="Arial" panose="020B0604020202020204" pitchFamily="34" charset="0"/>
              <a:buChar char="•"/>
            </a:pPr>
            <a:r>
              <a:rPr lang="en-US" sz="1400" dirty="0"/>
              <a:t>Includes features like price history, watchlist, and price drop alerts</a:t>
            </a:r>
          </a:p>
          <a:p>
            <a:pPr marL="285750" indent="-285750">
              <a:lnSpc>
                <a:spcPct val="140000"/>
              </a:lnSpc>
              <a:buFont typeface="Arial" panose="020B0604020202020204" pitchFamily="34" charset="0"/>
              <a:buChar char="•"/>
            </a:pPr>
            <a:endParaRPr lang="en-US" sz="1250" dirty="0"/>
          </a:p>
        </p:txBody>
      </p:sp>
      <p:sp>
        <p:nvSpPr>
          <p:cNvPr id="7" name="Shape 5">
            <a:extLst>
              <a:ext uri="{FF2B5EF4-FFF2-40B4-BE49-F238E27FC236}">
                <a16:creationId xmlns:a16="http://schemas.microsoft.com/office/drawing/2014/main" id="{69A6F3A6-68C3-68D9-76D1-D0AE59121883}"/>
              </a:ext>
            </a:extLst>
          </p:cNvPr>
          <p:cNvSpPr/>
          <p:nvPr/>
        </p:nvSpPr>
        <p:spPr>
          <a:xfrm>
            <a:off x="898398" y="2990088"/>
            <a:ext cx="2651760" cy="1051560"/>
          </a:xfrm>
          <a:prstGeom prst="rect">
            <a:avLst/>
          </a:prstGeom>
          <a:solidFill>
            <a:srgbClr val="1B2A4A"/>
          </a:solidFill>
          <a:ln w="12700">
            <a:solidFill>
              <a:srgbClr val="1B2A4A"/>
            </a:solidFill>
            <a:prstDash val="solid"/>
          </a:ln>
          <a:effectLst>
            <a:outerShdw blurRad="76200" dist="38100" dir="8100000" algn="bl" rotWithShape="0">
              <a:srgbClr val="000000">
                <a:alpha val="18000"/>
              </a:srgbClr>
            </a:outerShdw>
          </a:effectLst>
        </p:spPr>
      </p:sp>
      <p:sp>
        <p:nvSpPr>
          <p:cNvPr id="8" name="Shape 6">
            <a:extLst>
              <a:ext uri="{FF2B5EF4-FFF2-40B4-BE49-F238E27FC236}">
                <a16:creationId xmlns:a16="http://schemas.microsoft.com/office/drawing/2014/main" id="{AFF33B93-18DF-EF6A-F5CB-D33AB11E1FAB}"/>
              </a:ext>
            </a:extLst>
          </p:cNvPr>
          <p:cNvSpPr/>
          <p:nvPr/>
        </p:nvSpPr>
        <p:spPr>
          <a:xfrm>
            <a:off x="898398" y="2956560"/>
            <a:ext cx="2651760" cy="45720"/>
          </a:xfrm>
          <a:prstGeom prst="rect">
            <a:avLst/>
          </a:prstGeom>
          <a:solidFill>
            <a:srgbClr val="B8963E"/>
          </a:solidFill>
          <a:ln w="12700">
            <a:solidFill>
              <a:srgbClr val="B8963E"/>
            </a:solidFill>
            <a:prstDash val="solid"/>
          </a:ln>
        </p:spPr>
      </p:sp>
      <p:sp>
        <p:nvSpPr>
          <p:cNvPr id="9" name="Text 7">
            <a:extLst>
              <a:ext uri="{FF2B5EF4-FFF2-40B4-BE49-F238E27FC236}">
                <a16:creationId xmlns:a16="http://schemas.microsoft.com/office/drawing/2014/main" id="{093D5988-0809-7707-8813-55FB1918EB29}"/>
              </a:ext>
            </a:extLst>
          </p:cNvPr>
          <p:cNvSpPr/>
          <p:nvPr/>
        </p:nvSpPr>
        <p:spPr>
          <a:xfrm>
            <a:off x="898398" y="2990088"/>
            <a:ext cx="2685288" cy="502920"/>
          </a:xfrm>
          <a:prstGeom prst="rect">
            <a:avLst/>
          </a:prstGeom>
          <a:noFill/>
          <a:ln/>
        </p:spPr>
        <p:txBody>
          <a:bodyPr wrap="square" rtlCol="0" anchor="ctr"/>
          <a:lstStyle/>
          <a:p>
            <a:pPr algn="ctr"/>
            <a:r>
              <a:rPr lang="en-US" sz="1500" b="1" dirty="0">
                <a:solidFill>
                  <a:srgbClr val="FFFFFF"/>
                </a:solidFill>
                <a:latin typeface="Calibri" pitchFamily="34" charset="0"/>
                <a:ea typeface="Calibri" pitchFamily="34" charset="-122"/>
                <a:cs typeface="Calibri" pitchFamily="34" charset="-120"/>
              </a:rPr>
              <a:t>Multi-Platform</a:t>
            </a:r>
            <a:endParaRPr lang="en-US" sz="1500" dirty="0"/>
          </a:p>
        </p:txBody>
      </p:sp>
      <p:sp>
        <p:nvSpPr>
          <p:cNvPr id="10" name="Text 8">
            <a:extLst>
              <a:ext uri="{FF2B5EF4-FFF2-40B4-BE49-F238E27FC236}">
                <a16:creationId xmlns:a16="http://schemas.microsoft.com/office/drawing/2014/main" id="{F5899805-9F0B-3736-135E-BF5142B564B5}"/>
              </a:ext>
            </a:extLst>
          </p:cNvPr>
          <p:cNvSpPr/>
          <p:nvPr/>
        </p:nvSpPr>
        <p:spPr>
          <a:xfrm>
            <a:off x="457200" y="3474720"/>
            <a:ext cx="2468880" cy="384048"/>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                          Live  Price Comparison</a:t>
            </a:r>
            <a:endParaRPr lang="en-US" sz="1100" dirty="0"/>
          </a:p>
        </p:txBody>
      </p:sp>
      <p:sp>
        <p:nvSpPr>
          <p:cNvPr id="13" name="Text 11">
            <a:extLst>
              <a:ext uri="{FF2B5EF4-FFF2-40B4-BE49-F238E27FC236}">
                <a16:creationId xmlns:a16="http://schemas.microsoft.com/office/drawing/2014/main" id="{A3B6FB7C-453A-1752-C4C4-158F6C3E8AD7}"/>
              </a:ext>
            </a:extLst>
          </p:cNvPr>
          <p:cNvSpPr/>
          <p:nvPr/>
        </p:nvSpPr>
        <p:spPr>
          <a:xfrm>
            <a:off x="3717290" y="3355848"/>
            <a:ext cx="246888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 Modes</a:t>
            </a:r>
            <a:endParaRPr lang="en-US" sz="1500" dirty="0"/>
          </a:p>
        </p:txBody>
      </p:sp>
      <p:sp>
        <p:nvSpPr>
          <p:cNvPr id="15" name="Shape 13">
            <a:extLst>
              <a:ext uri="{FF2B5EF4-FFF2-40B4-BE49-F238E27FC236}">
                <a16:creationId xmlns:a16="http://schemas.microsoft.com/office/drawing/2014/main" id="{C7BA36EA-B7F6-7BAB-F6E8-1AC4204D22C5}"/>
              </a:ext>
            </a:extLst>
          </p:cNvPr>
          <p:cNvSpPr/>
          <p:nvPr/>
        </p:nvSpPr>
        <p:spPr>
          <a:xfrm>
            <a:off x="4450588" y="2979420"/>
            <a:ext cx="2651760" cy="1051560"/>
          </a:xfrm>
          <a:prstGeom prst="rect">
            <a:avLst/>
          </a:prstGeom>
          <a:solidFill>
            <a:srgbClr val="1B2A4A"/>
          </a:solidFill>
          <a:ln w="12700">
            <a:solidFill>
              <a:srgbClr val="1B2A4A"/>
            </a:solidFill>
            <a:prstDash val="solid"/>
          </a:ln>
          <a:effectLst>
            <a:outerShdw blurRad="76200" dist="38100" dir="8100000" algn="bl" rotWithShape="0">
              <a:srgbClr val="000000">
                <a:alpha val="18000"/>
              </a:srgbClr>
            </a:outerShdw>
          </a:effectLst>
        </p:spPr>
        <p:txBody>
          <a:bodyPr/>
          <a:lstStyle/>
          <a:p>
            <a:endParaRPr lang="en-IN" dirty="0"/>
          </a:p>
        </p:txBody>
      </p:sp>
      <p:sp>
        <p:nvSpPr>
          <p:cNvPr id="16" name="Shape 14">
            <a:extLst>
              <a:ext uri="{FF2B5EF4-FFF2-40B4-BE49-F238E27FC236}">
                <a16:creationId xmlns:a16="http://schemas.microsoft.com/office/drawing/2014/main" id="{52899663-68AF-1138-98CA-4D4C6BF74CA7}"/>
              </a:ext>
            </a:extLst>
          </p:cNvPr>
          <p:cNvSpPr/>
          <p:nvPr/>
        </p:nvSpPr>
        <p:spPr>
          <a:xfrm>
            <a:off x="4450588" y="2958719"/>
            <a:ext cx="2651760" cy="45720"/>
          </a:xfrm>
          <a:prstGeom prst="rect">
            <a:avLst/>
          </a:prstGeom>
          <a:solidFill>
            <a:srgbClr val="B8963E"/>
          </a:solidFill>
          <a:ln w="12700">
            <a:solidFill>
              <a:srgbClr val="B8963E"/>
            </a:solidFill>
            <a:prstDash val="solid"/>
          </a:ln>
        </p:spPr>
      </p:sp>
      <p:sp>
        <p:nvSpPr>
          <p:cNvPr id="17" name="Text 15">
            <a:extLst>
              <a:ext uri="{FF2B5EF4-FFF2-40B4-BE49-F238E27FC236}">
                <a16:creationId xmlns:a16="http://schemas.microsoft.com/office/drawing/2014/main" id="{897D74FA-252E-DAAD-7645-6F7C6E2F8FFE}"/>
              </a:ext>
            </a:extLst>
          </p:cNvPr>
          <p:cNvSpPr/>
          <p:nvPr/>
        </p:nvSpPr>
        <p:spPr>
          <a:xfrm>
            <a:off x="3017520" y="2990088"/>
            <a:ext cx="5577840" cy="502920"/>
          </a:xfrm>
          <a:prstGeom prst="rect">
            <a:avLst/>
          </a:prstGeom>
          <a:noFill/>
          <a:ln/>
        </p:spPr>
        <p:txBody>
          <a:bodyPr wrap="square" rtlCol="0" anchor="ctr"/>
          <a:lstStyle/>
          <a:p>
            <a:pPr algn="ctr"/>
            <a:r>
              <a:rPr lang="en-US" sz="1500" b="1" dirty="0">
                <a:solidFill>
                  <a:srgbClr val="FFFFFF"/>
                </a:solidFill>
                <a:latin typeface="Calibri" pitchFamily="34" charset="0"/>
                <a:ea typeface="Calibri" pitchFamily="34" charset="-122"/>
                <a:cs typeface="Calibri" pitchFamily="34" charset="-120"/>
              </a:rPr>
              <a:t>Smart Alerts</a:t>
            </a:r>
            <a:endParaRPr lang="en-US" sz="1500" dirty="0"/>
          </a:p>
        </p:txBody>
      </p:sp>
      <p:sp>
        <p:nvSpPr>
          <p:cNvPr id="18" name="Text 16">
            <a:extLst>
              <a:ext uri="{FF2B5EF4-FFF2-40B4-BE49-F238E27FC236}">
                <a16:creationId xmlns:a16="http://schemas.microsoft.com/office/drawing/2014/main" id="{294C601E-5278-D002-39EC-22F048F46E44}"/>
              </a:ext>
            </a:extLst>
          </p:cNvPr>
          <p:cNvSpPr/>
          <p:nvPr/>
        </p:nvSpPr>
        <p:spPr>
          <a:xfrm>
            <a:off x="4417060" y="3498342"/>
            <a:ext cx="2468880" cy="384048"/>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Price Drop Notifications</a:t>
            </a:r>
            <a:endParaRPr lang="en-US" sz="1100" dirty="0"/>
          </a:p>
        </p:txBody>
      </p:sp>
      <p:sp>
        <p:nvSpPr>
          <p:cNvPr id="20" name="Text 18">
            <a:extLst>
              <a:ext uri="{FF2B5EF4-FFF2-40B4-BE49-F238E27FC236}">
                <a16:creationId xmlns:a16="http://schemas.microsoft.com/office/drawing/2014/main" id="{B148823E-A7EE-6F77-01A5-6A615CAA31DE}"/>
              </a:ext>
            </a:extLst>
          </p:cNvPr>
          <p:cNvSpPr/>
          <p:nvPr/>
        </p:nvSpPr>
        <p:spPr>
          <a:xfrm>
            <a:off x="566928" y="4251960"/>
            <a:ext cx="8229600" cy="2011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a:t>
            </a:r>
            <a:endParaRPr lang="en-US" sz="1050" dirty="0"/>
          </a:p>
        </p:txBody>
      </p:sp>
      <p:sp>
        <p:nvSpPr>
          <p:cNvPr id="22" name="Text 20">
            <a:extLst>
              <a:ext uri="{FF2B5EF4-FFF2-40B4-BE49-F238E27FC236}">
                <a16:creationId xmlns:a16="http://schemas.microsoft.com/office/drawing/2014/main" id="{044ED1BA-079D-50FA-D452-61FED45AFA33}"/>
              </a:ext>
            </a:extLst>
          </p:cNvPr>
          <p:cNvSpPr/>
          <p:nvPr/>
        </p:nvSpPr>
        <p:spPr>
          <a:xfrm>
            <a:off x="566928" y="4453128"/>
            <a:ext cx="8229600" cy="2011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a:t>
            </a:r>
            <a:endParaRPr lang="en-US" sz="1050" dirty="0"/>
          </a:p>
        </p:txBody>
      </p:sp>
      <p:sp>
        <p:nvSpPr>
          <p:cNvPr id="24" name="Text 22">
            <a:extLst>
              <a:ext uri="{FF2B5EF4-FFF2-40B4-BE49-F238E27FC236}">
                <a16:creationId xmlns:a16="http://schemas.microsoft.com/office/drawing/2014/main" id="{60644FFC-88CC-458A-C91B-081FD270982C}"/>
              </a:ext>
            </a:extLst>
          </p:cNvPr>
          <p:cNvSpPr/>
          <p:nvPr/>
        </p:nvSpPr>
        <p:spPr>
          <a:xfrm>
            <a:off x="566928" y="4654296"/>
            <a:ext cx="8229600" cy="201168"/>
          </a:xfrm>
          <a:prstGeom prst="rect">
            <a:avLst/>
          </a:prstGeom>
          <a:noFill/>
          <a:ln/>
        </p:spPr>
        <p:txBody>
          <a:bodyPr wrap="square" rtlCol="0" anchor="ctr"/>
          <a:lstStyle/>
          <a:p>
            <a:pPr marL="0" indent="0">
              <a:buNone/>
            </a:pPr>
            <a:endParaRPr lang="en-US" sz="1050" dirty="0"/>
          </a:p>
        </p:txBody>
      </p:sp>
      <p:sp>
        <p:nvSpPr>
          <p:cNvPr id="25" name="Shape 23">
            <a:extLst>
              <a:ext uri="{FF2B5EF4-FFF2-40B4-BE49-F238E27FC236}">
                <a16:creationId xmlns:a16="http://schemas.microsoft.com/office/drawing/2014/main" id="{A13FD06E-206C-5C83-B763-B4C3476AC035}"/>
              </a:ext>
            </a:extLst>
          </p:cNvPr>
          <p:cNvSpPr/>
          <p:nvPr/>
        </p:nvSpPr>
        <p:spPr>
          <a:xfrm>
            <a:off x="0" y="4892040"/>
            <a:ext cx="9144000" cy="251460"/>
          </a:xfrm>
          <a:prstGeom prst="rect">
            <a:avLst/>
          </a:prstGeom>
          <a:solidFill>
            <a:srgbClr val="1B2A4A"/>
          </a:solidFill>
          <a:ln w="12700">
            <a:solidFill>
              <a:srgbClr val="1B2A4A"/>
            </a:solidFill>
            <a:prstDash val="solid"/>
          </a:ln>
        </p:spPr>
      </p:sp>
      <p:sp>
        <p:nvSpPr>
          <p:cNvPr id="26" name="Text 24">
            <a:extLst>
              <a:ext uri="{FF2B5EF4-FFF2-40B4-BE49-F238E27FC236}">
                <a16:creationId xmlns:a16="http://schemas.microsoft.com/office/drawing/2014/main" id="{5874C300-FE3F-A0B4-800B-A466D89B378E}"/>
              </a:ext>
            </a:extLst>
          </p:cNvPr>
          <p:cNvSpPr/>
          <p:nvPr/>
        </p:nvSpPr>
        <p:spPr>
          <a:xfrm>
            <a:off x="320040" y="4892040"/>
            <a:ext cx="8503920" cy="251460"/>
          </a:xfrm>
          <a:prstGeom prst="rect">
            <a:avLst/>
          </a:prstGeom>
          <a:noFill/>
          <a:ln/>
        </p:spPr>
        <p:txBody>
          <a:bodyPr wrap="square" rtlCol="0" anchor="ctr"/>
          <a:lstStyle/>
          <a:p>
            <a:pPr marL="0" indent="0" algn="ctr">
              <a:buNone/>
            </a:pPr>
            <a:r>
              <a:rPr lang="en-US" sz="900" dirty="0">
                <a:solidFill>
                  <a:srgbClr val="D4AF5A"/>
                </a:solidFill>
                <a:latin typeface="Calibri" pitchFamily="34" charset="0"/>
                <a:ea typeface="Calibri" pitchFamily="34" charset="-122"/>
                <a:cs typeface="Calibri" pitchFamily="34" charset="-120"/>
              </a:rPr>
              <a:t>Price Comparison Web Application  ·  Internship Project</a:t>
            </a:r>
            <a:endParaRPr lang="en-US" sz="900" dirty="0"/>
          </a:p>
        </p:txBody>
      </p:sp>
    </p:spTree>
    <p:extLst>
      <p:ext uri="{BB962C8B-B14F-4D97-AF65-F5344CB8AC3E}">
        <p14:creationId xmlns:p14="http://schemas.microsoft.com/office/powerpoint/2010/main" val="540517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sp>
      <p:sp>
        <p:nvSpPr>
          <p:cNvPr id="3" name="Shape 1"/>
          <p:cNvSpPr/>
          <p:nvPr/>
        </p:nvSpPr>
        <p:spPr>
          <a:xfrm>
            <a:off x="0" y="960120"/>
            <a:ext cx="9144000" cy="36576"/>
          </a:xfrm>
          <a:prstGeom prst="rect">
            <a:avLst/>
          </a:prstGeom>
          <a:solidFill>
            <a:srgbClr val="B8963E"/>
          </a:solidFill>
          <a:ln w="12700">
            <a:solidFill>
              <a:srgbClr val="B8963E"/>
            </a:solidFill>
            <a:prstDash val="solid"/>
          </a:ln>
        </p:spPr>
      </p:sp>
      <p:sp>
        <p:nvSpPr>
          <p:cNvPr id="4" name="Text 2"/>
          <p:cNvSpPr/>
          <p:nvPr/>
        </p:nvSpPr>
        <p:spPr>
          <a:xfrm>
            <a:off x="365760" y="118872"/>
            <a:ext cx="768096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Core Modules</a:t>
            </a:r>
            <a:endParaRPr lang="en-US" sz="2600" dirty="0"/>
          </a:p>
        </p:txBody>
      </p:sp>
      <p:sp>
        <p:nvSpPr>
          <p:cNvPr id="5" name="Text 3"/>
          <p:cNvSpPr/>
          <p:nvPr/>
        </p:nvSpPr>
        <p:spPr>
          <a:xfrm>
            <a:off x="8046720" y="118872"/>
            <a:ext cx="914400" cy="731520"/>
          </a:xfrm>
          <a:prstGeom prst="rect">
            <a:avLst/>
          </a:prstGeom>
          <a:noFill/>
          <a:ln/>
        </p:spPr>
        <p:txBody>
          <a:bodyPr wrap="square" rtlCol="0" anchor="ctr"/>
          <a:lstStyle/>
          <a:p>
            <a:pPr marL="0" indent="0" algn="r">
              <a:buNone/>
            </a:pPr>
            <a:r>
              <a:rPr lang="en-US" sz="2200" b="1" dirty="0">
                <a:solidFill>
                  <a:srgbClr val="D4AF5A"/>
                </a:solidFill>
                <a:latin typeface="Calibri" pitchFamily="34" charset="0"/>
                <a:ea typeface="Calibri" pitchFamily="34" charset="-122"/>
                <a:cs typeface="Calibri" pitchFamily="34" charset="-120"/>
              </a:rPr>
              <a:t>05</a:t>
            </a:r>
            <a:endParaRPr lang="en-US" sz="2200" dirty="0"/>
          </a:p>
        </p:txBody>
      </p:sp>
      <p:sp>
        <p:nvSpPr>
          <p:cNvPr id="6" name="Shape 4"/>
          <p:cNvSpPr/>
          <p:nvPr/>
        </p:nvSpPr>
        <p:spPr>
          <a:xfrm>
            <a:off x="274320" y="1115568"/>
            <a:ext cx="4206240" cy="1783080"/>
          </a:xfrm>
          <a:prstGeom prst="rect">
            <a:avLst/>
          </a:prstGeom>
          <a:solidFill>
            <a:srgbClr val="FFFFFF"/>
          </a:solidFill>
          <a:ln w="12700">
            <a:solidFill>
              <a:srgbClr val="E8ECF2"/>
            </a:solidFill>
            <a:prstDash val="solid"/>
          </a:ln>
          <a:effectLst>
            <a:outerShdw blurRad="63500" dist="25400" dir="8100000" algn="bl" rotWithShape="0">
              <a:srgbClr val="000000">
                <a:alpha val="10000"/>
              </a:srgbClr>
            </a:outerShdw>
          </a:effectLst>
        </p:spPr>
      </p:sp>
      <p:sp>
        <p:nvSpPr>
          <p:cNvPr id="7" name="Shape 5"/>
          <p:cNvSpPr/>
          <p:nvPr/>
        </p:nvSpPr>
        <p:spPr>
          <a:xfrm>
            <a:off x="274320" y="1115568"/>
            <a:ext cx="54864" cy="1783080"/>
          </a:xfrm>
          <a:prstGeom prst="rect">
            <a:avLst/>
          </a:prstGeom>
          <a:solidFill>
            <a:srgbClr val="1B2A4A"/>
          </a:solidFill>
          <a:ln w="12700">
            <a:solidFill>
              <a:srgbClr val="1B2A4A"/>
            </a:solidFill>
            <a:prstDash val="solid"/>
          </a:ln>
        </p:spPr>
      </p:sp>
      <p:sp>
        <p:nvSpPr>
          <p:cNvPr id="8" name="Text 6"/>
          <p:cNvSpPr/>
          <p:nvPr/>
        </p:nvSpPr>
        <p:spPr>
          <a:xfrm>
            <a:off x="411480" y="1207008"/>
            <a:ext cx="594360" cy="411480"/>
          </a:xfrm>
          <a:prstGeom prst="rect">
            <a:avLst/>
          </a:prstGeom>
          <a:noFill/>
          <a:ln/>
        </p:spPr>
        <p:txBody>
          <a:bodyPr wrap="square" rtlCol="0" anchor="ctr"/>
          <a:lstStyle/>
          <a:p>
            <a:pPr marL="0" indent="0">
              <a:buNone/>
            </a:pPr>
            <a:r>
              <a:rPr lang="en-US" sz="2000" b="1" dirty="0">
                <a:solidFill>
                  <a:srgbClr val="B8963E"/>
                </a:solidFill>
                <a:latin typeface="Calibri" pitchFamily="34" charset="0"/>
                <a:ea typeface="Calibri" pitchFamily="34" charset="-122"/>
                <a:cs typeface="Calibri" pitchFamily="34" charset="-120"/>
              </a:rPr>
              <a:t>01</a:t>
            </a:r>
            <a:endParaRPr lang="en-US" sz="2000" dirty="0"/>
          </a:p>
        </p:txBody>
      </p:sp>
      <p:sp>
        <p:nvSpPr>
          <p:cNvPr id="9" name="Text 7"/>
          <p:cNvSpPr/>
          <p:nvPr/>
        </p:nvSpPr>
        <p:spPr>
          <a:xfrm>
            <a:off x="411480" y="1591056"/>
            <a:ext cx="393192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Search &amp; Price Comparison</a:t>
            </a:r>
            <a:endParaRPr lang="en-US" sz="1300" dirty="0"/>
          </a:p>
        </p:txBody>
      </p:sp>
      <p:sp>
        <p:nvSpPr>
          <p:cNvPr id="10" name="Text 8"/>
          <p:cNvSpPr/>
          <p:nvPr/>
        </p:nvSpPr>
        <p:spPr>
          <a:xfrm>
            <a:off x="411480" y="1938528"/>
            <a:ext cx="3931920" cy="868680"/>
          </a:xfrm>
          <a:prstGeom prst="rect">
            <a:avLst/>
          </a:prstGeom>
          <a:noFill/>
          <a:ln/>
        </p:spPr>
        <p:txBody>
          <a:bodyPr wrap="square" rtlCol="0" anchor="ctr"/>
          <a:lstStyle/>
          <a:p>
            <a:pPr marL="0" indent="0">
              <a:lnSpc>
                <a:spcPct val="130000"/>
              </a:lnSpc>
              <a:buNone/>
            </a:pPr>
            <a:r>
              <a:rPr lang="en-US" sz="1050" dirty="0">
                <a:solidFill>
                  <a:srgbClr val="4A5568"/>
                </a:solidFill>
                <a:latin typeface="Calibri" pitchFamily="34" charset="0"/>
                <a:ea typeface="Calibri" pitchFamily="34" charset="-122"/>
                <a:cs typeface="Calibri" pitchFamily="34" charset="-120"/>
              </a:rPr>
              <a:t>Users search by SKU, brand name, or product URL. BeautifulSoup and Selenium scrape live prices from multiple stores simultaneously and rank results by lowest price, with the best deal highlighted.</a:t>
            </a:r>
            <a:endParaRPr lang="en-US" sz="1050" dirty="0"/>
          </a:p>
        </p:txBody>
      </p:sp>
      <p:sp>
        <p:nvSpPr>
          <p:cNvPr id="11" name="Shape 9"/>
          <p:cNvSpPr/>
          <p:nvPr/>
        </p:nvSpPr>
        <p:spPr>
          <a:xfrm>
            <a:off x="4709160" y="1115568"/>
            <a:ext cx="4206240" cy="1783080"/>
          </a:xfrm>
          <a:prstGeom prst="rect">
            <a:avLst/>
          </a:prstGeom>
          <a:solidFill>
            <a:srgbClr val="FFFFFF"/>
          </a:solidFill>
          <a:ln w="12700">
            <a:solidFill>
              <a:srgbClr val="E8ECF2"/>
            </a:solidFill>
            <a:prstDash val="solid"/>
          </a:ln>
          <a:effectLst>
            <a:outerShdw blurRad="63500" dist="25400" dir="8100000" algn="bl" rotWithShape="0">
              <a:srgbClr val="000000">
                <a:alpha val="10000"/>
              </a:srgbClr>
            </a:outerShdw>
          </a:effectLst>
        </p:spPr>
      </p:sp>
      <p:sp>
        <p:nvSpPr>
          <p:cNvPr id="12" name="Shape 10"/>
          <p:cNvSpPr/>
          <p:nvPr/>
        </p:nvSpPr>
        <p:spPr>
          <a:xfrm>
            <a:off x="4709160" y="1115568"/>
            <a:ext cx="54864" cy="1783080"/>
          </a:xfrm>
          <a:prstGeom prst="rect">
            <a:avLst/>
          </a:prstGeom>
          <a:solidFill>
            <a:srgbClr val="1B2A4A"/>
          </a:solidFill>
          <a:ln w="12700">
            <a:solidFill>
              <a:srgbClr val="1B2A4A"/>
            </a:solidFill>
            <a:prstDash val="solid"/>
          </a:ln>
        </p:spPr>
      </p:sp>
      <p:sp>
        <p:nvSpPr>
          <p:cNvPr id="13" name="Text 11"/>
          <p:cNvSpPr/>
          <p:nvPr/>
        </p:nvSpPr>
        <p:spPr>
          <a:xfrm>
            <a:off x="4846320" y="1207008"/>
            <a:ext cx="594360" cy="411480"/>
          </a:xfrm>
          <a:prstGeom prst="rect">
            <a:avLst/>
          </a:prstGeom>
          <a:noFill/>
          <a:ln/>
        </p:spPr>
        <p:txBody>
          <a:bodyPr wrap="square" rtlCol="0" anchor="ctr"/>
          <a:lstStyle/>
          <a:p>
            <a:pPr marL="0" indent="0">
              <a:buNone/>
            </a:pPr>
            <a:r>
              <a:rPr lang="en-US" sz="2000" b="1" dirty="0">
                <a:solidFill>
                  <a:srgbClr val="B8963E"/>
                </a:solidFill>
                <a:latin typeface="Calibri" pitchFamily="34" charset="0"/>
                <a:ea typeface="Calibri" pitchFamily="34" charset="-122"/>
                <a:cs typeface="Calibri" pitchFamily="34" charset="-120"/>
              </a:rPr>
              <a:t>02</a:t>
            </a:r>
            <a:endParaRPr lang="en-US" sz="2000" dirty="0"/>
          </a:p>
        </p:txBody>
      </p:sp>
      <p:sp>
        <p:nvSpPr>
          <p:cNvPr id="14" name="Text 12"/>
          <p:cNvSpPr/>
          <p:nvPr/>
        </p:nvSpPr>
        <p:spPr>
          <a:xfrm>
            <a:off x="4846320" y="1591056"/>
            <a:ext cx="393192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Price Trend &amp; Analytics</a:t>
            </a:r>
            <a:endParaRPr lang="en-US" sz="1300" dirty="0"/>
          </a:p>
        </p:txBody>
      </p:sp>
      <p:sp>
        <p:nvSpPr>
          <p:cNvPr id="15" name="Text 13"/>
          <p:cNvSpPr/>
          <p:nvPr/>
        </p:nvSpPr>
        <p:spPr>
          <a:xfrm>
            <a:off x="4846320" y="1938528"/>
            <a:ext cx="3931920" cy="868680"/>
          </a:xfrm>
          <a:prstGeom prst="rect">
            <a:avLst/>
          </a:prstGeom>
          <a:noFill/>
          <a:ln/>
        </p:spPr>
        <p:txBody>
          <a:bodyPr wrap="square" rtlCol="0" anchor="ctr"/>
          <a:lstStyle/>
          <a:p>
            <a:pPr marL="0" indent="0">
              <a:lnSpc>
                <a:spcPct val="130000"/>
              </a:lnSpc>
              <a:buNone/>
            </a:pPr>
            <a:r>
              <a:rPr lang="en-US" sz="1050" dirty="0">
                <a:solidFill>
                  <a:srgbClr val="4A5568"/>
                </a:solidFill>
                <a:latin typeface="Calibri" pitchFamily="34" charset="0"/>
                <a:ea typeface="Calibri" pitchFamily="34" charset="-122"/>
                <a:cs typeface="Calibri" pitchFamily="34" charset="-120"/>
              </a:rPr>
              <a:t>A historical price-trend chart is generated per product. An insights panel surfaces key metrics: Lowest Ever, Highest Recorded, Average Price, and percentage change over time.</a:t>
            </a:r>
            <a:endParaRPr lang="en-US" sz="1050" dirty="0"/>
          </a:p>
        </p:txBody>
      </p:sp>
      <p:sp>
        <p:nvSpPr>
          <p:cNvPr id="16" name="Shape 14"/>
          <p:cNvSpPr/>
          <p:nvPr/>
        </p:nvSpPr>
        <p:spPr>
          <a:xfrm>
            <a:off x="274320" y="3035808"/>
            <a:ext cx="4206240" cy="1783080"/>
          </a:xfrm>
          <a:prstGeom prst="rect">
            <a:avLst/>
          </a:prstGeom>
          <a:solidFill>
            <a:srgbClr val="FFFFFF"/>
          </a:solidFill>
          <a:ln w="12700">
            <a:solidFill>
              <a:srgbClr val="E8ECF2"/>
            </a:solidFill>
            <a:prstDash val="solid"/>
          </a:ln>
          <a:effectLst>
            <a:outerShdw blurRad="63500" dist="25400" dir="8100000" algn="bl" rotWithShape="0">
              <a:srgbClr val="000000">
                <a:alpha val="10000"/>
              </a:srgbClr>
            </a:outerShdw>
          </a:effectLst>
        </p:spPr>
      </p:sp>
      <p:sp>
        <p:nvSpPr>
          <p:cNvPr id="17" name="Shape 15"/>
          <p:cNvSpPr/>
          <p:nvPr/>
        </p:nvSpPr>
        <p:spPr>
          <a:xfrm>
            <a:off x="274320" y="3035808"/>
            <a:ext cx="54864" cy="1783080"/>
          </a:xfrm>
          <a:prstGeom prst="rect">
            <a:avLst/>
          </a:prstGeom>
          <a:solidFill>
            <a:srgbClr val="1B2A4A"/>
          </a:solidFill>
          <a:ln w="12700">
            <a:solidFill>
              <a:srgbClr val="1B2A4A"/>
            </a:solidFill>
            <a:prstDash val="solid"/>
          </a:ln>
        </p:spPr>
      </p:sp>
      <p:sp>
        <p:nvSpPr>
          <p:cNvPr id="18" name="Text 16"/>
          <p:cNvSpPr/>
          <p:nvPr/>
        </p:nvSpPr>
        <p:spPr>
          <a:xfrm>
            <a:off x="411480" y="3127248"/>
            <a:ext cx="594360" cy="411480"/>
          </a:xfrm>
          <a:prstGeom prst="rect">
            <a:avLst/>
          </a:prstGeom>
          <a:noFill/>
          <a:ln/>
        </p:spPr>
        <p:txBody>
          <a:bodyPr wrap="square" rtlCol="0" anchor="ctr"/>
          <a:lstStyle/>
          <a:p>
            <a:pPr marL="0" indent="0">
              <a:buNone/>
            </a:pPr>
            <a:r>
              <a:rPr lang="en-US" sz="2000" b="1" dirty="0">
                <a:solidFill>
                  <a:srgbClr val="B8963E"/>
                </a:solidFill>
                <a:latin typeface="Calibri" pitchFamily="34" charset="0"/>
                <a:ea typeface="Calibri" pitchFamily="34" charset="-122"/>
                <a:cs typeface="Calibri" pitchFamily="34" charset="-120"/>
              </a:rPr>
              <a:t>03</a:t>
            </a:r>
            <a:endParaRPr lang="en-US" sz="2000" dirty="0"/>
          </a:p>
        </p:txBody>
      </p:sp>
      <p:sp>
        <p:nvSpPr>
          <p:cNvPr id="19" name="Text 17"/>
          <p:cNvSpPr/>
          <p:nvPr/>
        </p:nvSpPr>
        <p:spPr>
          <a:xfrm>
            <a:off x="411480" y="3511296"/>
            <a:ext cx="393192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Watchlist &amp; Tracking</a:t>
            </a:r>
            <a:endParaRPr lang="en-US" sz="1300" dirty="0"/>
          </a:p>
        </p:txBody>
      </p:sp>
      <p:sp>
        <p:nvSpPr>
          <p:cNvPr id="20" name="Text 18"/>
          <p:cNvSpPr/>
          <p:nvPr/>
        </p:nvSpPr>
        <p:spPr>
          <a:xfrm>
            <a:off x="411480" y="3858768"/>
            <a:ext cx="3931920" cy="868680"/>
          </a:xfrm>
          <a:prstGeom prst="rect">
            <a:avLst/>
          </a:prstGeom>
          <a:noFill/>
          <a:ln/>
        </p:spPr>
        <p:txBody>
          <a:bodyPr wrap="square" rtlCol="0" anchor="ctr"/>
          <a:lstStyle/>
          <a:p>
            <a:pPr marL="0" indent="0">
              <a:lnSpc>
                <a:spcPct val="130000"/>
              </a:lnSpc>
              <a:buNone/>
            </a:pPr>
            <a:r>
              <a:rPr lang="en-US" sz="1050" dirty="0">
                <a:solidFill>
                  <a:srgbClr val="4A5568"/>
                </a:solidFill>
                <a:latin typeface="Calibri" pitchFamily="34" charset="0"/>
                <a:ea typeface="Calibri" pitchFamily="34" charset="-122"/>
                <a:cs typeface="Calibri" pitchFamily="34" charset="-120"/>
              </a:rPr>
              <a:t>Users save products to a personal watchlist. The system tracks entry price, current best price, percentage drop, and provides a consolidated view of all store prices for each tracked item.</a:t>
            </a:r>
            <a:endParaRPr lang="en-US" sz="1050" dirty="0"/>
          </a:p>
        </p:txBody>
      </p:sp>
      <p:sp>
        <p:nvSpPr>
          <p:cNvPr id="21" name="Shape 19"/>
          <p:cNvSpPr/>
          <p:nvPr/>
        </p:nvSpPr>
        <p:spPr>
          <a:xfrm>
            <a:off x="4709160" y="3035808"/>
            <a:ext cx="4206240" cy="1783080"/>
          </a:xfrm>
          <a:prstGeom prst="rect">
            <a:avLst/>
          </a:prstGeom>
          <a:solidFill>
            <a:srgbClr val="FFFFFF"/>
          </a:solidFill>
          <a:ln w="12700">
            <a:solidFill>
              <a:srgbClr val="E8ECF2"/>
            </a:solidFill>
            <a:prstDash val="solid"/>
          </a:ln>
          <a:effectLst>
            <a:outerShdw blurRad="63500" dist="25400" dir="8100000" algn="bl" rotWithShape="0">
              <a:srgbClr val="000000">
                <a:alpha val="10000"/>
              </a:srgbClr>
            </a:outerShdw>
          </a:effectLst>
        </p:spPr>
      </p:sp>
      <p:sp>
        <p:nvSpPr>
          <p:cNvPr id="22" name="Shape 20"/>
          <p:cNvSpPr/>
          <p:nvPr/>
        </p:nvSpPr>
        <p:spPr>
          <a:xfrm>
            <a:off x="4709160" y="3035808"/>
            <a:ext cx="54864" cy="1783080"/>
          </a:xfrm>
          <a:prstGeom prst="rect">
            <a:avLst/>
          </a:prstGeom>
          <a:solidFill>
            <a:srgbClr val="1B2A4A"/>
          </a:solidFill>
          <a:ln w="12700">
            <a:solidFill>
              <a:srgbClr val="1B2A4A"/>
            </a:solidFill>
            <a:prstDash val="solid"/>
          </a:ln>
        </p:spPr>
      </p:sp>
      <p:sp>
        <p:nvSpPr>
          <p:cNvPr id="23" name="Text 21"/>
          <p:cNvSpPr/>
          <p:nvPr/>
        </p:nvSpPr>
        <p:spPr>
          <a:xfrm>
            <a:off x="4846320" y="3127248"/>
            <a:ext cx="594360" cy="411480"/>
          </a:xfrm>
          <a:prstGeom prst="rect">
            <a:avLst/>
          </a:prstGeom>
          <a:noFill/>
          <a:ln/>
        </p:spPr>
        <p:txBody>
          <a:bodyPr wrap="square" rtlCol="0" anchor="ctr"/>
          <a:lstStyle/>
          <a:p>
            <a:pPr marL="0" indent="0">
              <a:buNone/>
            </a:pPr>
            <a:r>
              <a:rPr lang="en-US" sz="2000" b="1" dirty="0">
                <a:solidFill>
                  <a:srgbClr val="B8963E"/>
                </a:solidFill>
                <a:latin typeface="Calibri" pitchFamily="34" charset="0"/>
                <a:ea typeface="Calibri" pitchFamily="34" charset="-122"/>
                <a:cs typeface="Calibri" pitchFamily="34" charset="-120"/>
              </a:rPr>
              <a:t>04</a:t>
            </a:r>
            <a:endParaRPr lang="en-US" sz="2000" dirty="0"/>
          </a:p>
        </p:txBody>
      </p:sp>
      <p:sp>
        <p:nvSpPr>
          <p:cNvPr id="24" name="Text 22"/>
          <p:cNvSpPr/>
          <p:nvPr/>
        </p:nvSpPr>
        <p:spPr>
          <a:xfrm>
            <a:off x="4846320" y="3511296"/>
            <a:ext cx="393192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Price Alerts</a:t>
            </a:r>
            <a:endParaRPr lang="en-US" sz="1300" dirty="0"/>
          </a:p>
        </p:txBody>
      </p:sp>
      <p:sp>
        <p:nvSpPr>
          <p:cNvPr id="25" name="Text 23"/>
          <p:cNvSpPr/>
          <p:nvPr/>
        </p:nvSpPr>
        <p:spPr>
          <a:xfrm>
            <a:off x="4846320" y="3858768"/>
            <a:ext cx="3931920" cy="868680"/>
          </a:xfrm>
          <a:prstGeom prst="rect">
            <a:avLst/>
          </a:prstGeom>
          <a:noFill/>
          <a:ln/>
        </p:spPr>
        <p:txBody>
          <a:bodyPr wrap="square" rtlCol="0" anchor="ctr"/>
          <a:lstStyle/>
          <a:p>
            <a:pPr marL="0" indent="0">
              <a:lnSpc>
                <a:spcPct val="130000"/>
              </a:lnSpc>
              <a:buNone/>
            </a:pPr>
            <a:r>
              <a:rPr lang="en-US" sz="1050" dirty="0">
                <a:solidFill>
                  <a:srgbClr val="4A5568"/>
                </a:solidFill>
                <a:latin typeface="Calibri" pitchFamily="34" charset="0"/>
                <a:ea typeface="Calibri" pitchFamily="34" charset="-122"/>
                <a:cs typeface="Calibri" pitchFamily="34" charset="-120"/>
              </a:rPr>
              <a:t>Users configure a minimum and maximum alert price threshold per product. The system monitors live prices and dispatches a notification when the price drops within the defined range.</a:t>
            </a:r>
            <a:endParaRPr lang="en-US" sz="1050" dirty="0"/>
          </a:p>
        </p:txBody>
      </p:sp>
      <p:sp>
        <p:nvSpPr>
          <p:cNvPr id="26" name="Shape 24"/>
          <p:cNvSpPr/>
          <p:nvPr/>
        </p:nvSpPr>
        <p:spPr>
          <a:xfrm>
            <a:off x="0" y="4892040"/>
            <a:ext cx="9144000" cy="251460"/>
          </a:xfrm>
          <a:prstGeom prst="rect">
            <a:avLst/>
          </a:prstGeom>
          <a:solidFill>
            <a:srgbClr val="1B2A4A"/>
          </a:solidFill>
          <a:ln w="12700">
            <a:solidFill>
              <a:srgbClr val="1B2A4A"/>
            </a:solidFill>
            <a:prstDash val="solid"/>
          </a:ln>
        </p:spPr>
      </p:sp>
      <p:sp>
        <p:nvSpPr>
          <p:cNvPr id="27" name="Text 25"/>
          <p:cNvSpPr/>
          <p:nvPr/>
        </p:nvSpPr>
        <p:spPr>
          <a:xfrm>
            <a:off x="320040" y="4892040"/>
            <a:ext cx="8503920" cy="251460"/>
          </a:xfrm>
          <a:prstGeom prst="rect">
            <a:avLst/>
          </a:prstGeom>
          <a:noFill/>
          <a:ln/>
        </p:spPr>
        <p:txBody>
          <a:bodyPr wrap="square" rtlCol="0" anchor="ctr"/>
          <a:lstStyle/>
          <a:p>
            <a:pPr marL="0" indent="0" algn="ctr">
              <a:buNone/>
            </a:pPr>
            <a:r>
              <a:rPr lang="en-US" sz="900" dirty="0">
                <a:solidFill>
                  <a:srgbClr val="D4AF5A"/>
                </a:solidFill>
                <a:latin typeface="Calibri" pitchFamily="34" charset="0"/>
                <a:ea typeface="Calibri" pitchFamily="34" charset="-122"/>
                <a:cs typeface="Calibri" pitchFamily="34" charset="-120"/>
              </a:rPr>
              <a:t>Price Comparison Web Application  ·  Internship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sp>
      <p:sp>
        <p:nvSpPr>
          <p:cNvPr id="3" name="Shape 1"/>
          <p:cNvSpPr/>
          <p:nvPr/>
        </p:nvSpPr>
        <p:spPr>
          <a:xfrm>
            <a:off x="0" y="960120"/>
            <a:ext cx="9144000" cy="36576"/>
          </a:xfrm>
          <a:prstGeom prst="rect">
            <a:avLst/>
          </a:prstGeom>
          <a:solidFill>
            <a:srgbClr val="B8963E"/>
          </a:solidFill>
          <a:ln w="12700">
            <a:solidFill>
              <a:srgbClr val="B8963E"/>
            </a:solidFill>
            <a:prstDash val="solid"/>
          </a:ln>
        </p:spPr>
      </p:sp>
      <p:sp>
        <p:nvSpPr>
          <p:cNvPr id="4" name="Text 2"/>
          <p:cNvSpPr/>
          <p:nvPr/>
        </p:nvSpPr>
        <p:spPr>
          <a:xfrm>
            <a:off x="365760" y="118872"/>
            <a:ext cx="768096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Technology Stack</a:t>
            </a:r>
            <a:endParaRPr lang="en-US" sz="2600" dirty="0"/>
          </a:p>
        </p:txBody>
      </p:sp>
      <p:sp>
        <p:nvSpPr>
          <p:cNvPr id="5" name="Text 3"/>
          <p:cNvSpPr/>
          <p:nvPr/>
        </p:nvSpPr>
        <p:spPr>
          <a:xfrm>
            <a:off x="8046720" y="118872"/>
            <a:ext cx="914400" cy="731520"/>
          </a:xfrm>
          <a:prstGeom prst="rect">
            <a:avLst/>
          </a:prstGeom>
          <a:noFill/>
          <a:ln/>
        </p:spPr>
        <p:txBody>
          <a:bodyPr wrap="square" rtlCol="0" anchor="ctr"/>
          <a:lstStyle/>
          <a:p>
            <a:pPr marL="0" indent="0" algn="r">
              <a:buNone/>
            </a:pPr>
            <a:r>
              <a:rPr lang="en-US" sz="2200" b="1" dirty="0">
                <a:solidFill>
                  <a:srgbClr val="D4AF5A"/>
                </a:solidFill>
                <a:latin typeface="Calibri" pitchFamily="34" charset="0"/>
                <a:ea typeface="Calibri" pitchFamily="34" charset="-122"/>
                <a:cs typeface="Calibri" pitchFamily="34" charset="-120"/>
              </a:rPr>
              <a:t>06</a:t>
            </a:r>
            <a:endParaRPr lang="en-US" sz="2200" dirty="0"/>
          </a:p>
        </p:txBody>
      </p:sp>
      <p:sp>
        <p:nvSpPr>
          <p:cNvPr id="6" name="Shape 4"/>
          <p:cNvSpPr/>
          <p:nvPr/>
        </p:nvSpPr>
        <p:spPr>
          <a:xfrm>
            <a:off x="320040" y="1115568"/>
            <a:ext cx="1463040" cy="594360"/>
          </a:xfrm>
          <a:prstGeom prst="rect">
            <a:avLst/>
          </a:prstGeom>
          <a:solidFill>
            <a:srgbClr val="1B2A4A"/>
          </a:solidFill>
          <a:ln w="12700">
            <a:solidFill>
              <a:srgbClr val="1B2A4A"/>
            </a:solidFill>
            <a:prstDash val="solid"/>
          </a:ln>
        </p:spPr>
      </p:sp>
      <p:sp>
        <p:nvSpPr>
          <p:cNvPr id="7" name="Text 5"/>
          <p:cNvSpPr/>
          <p:nvPr/>
        </p:nvSpPr>
        <p:spPr>
          <a:xfrm>
            <a:off x="320040" y="1115568"/>
            <a:ext cx="146304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8" name="Shape 6"/>
          <p:cNvSpPr/>
          <p:nvPr/>
        </p:nvSpPr>
        <p:spPr>
          <a:xfrm>
            <a:off x="1847088" y="1316736"/>
            <a:ext cx="182880" cy="182880"/>
          </a:xfrm>
          <a:prstGeom prst="ellipse">
            <a:avLst/>
          </a:prstGeom>
          <a:solidFill>
            <a:srgbClr val="B8963E"/>
          </a:solidFill>
          <a:ln w="12700">
            <a:solidFill>
              <a:srgbClr val="B8963E"/>
            </a:solidFill>
            <a:prstDash val="solid"/>
          </a:ln>
        </p:spPr>
      </p:sp>
      <p:sp>
        <p:nvSpPr>
          <p:cNvPr id="9" name="Shape 7"/>
          <p:cNvSpPr/>
          <p:nvPr/>
        </p:nvSpPr>
        <p:spPr>
          <a:xfrm>
            <a:off x="2084832" y="1115568"/>
            <a:ext cx="6720840" cy="594360"/>
          </a:xfrm>
          <a:prstGeom prst="rect">
            <a:avLst/>
          </a:prstGeom>
          <a:solidFill>
            <a:srgbClr val="FFFFFF"/>
          </a:solidFill>
          <a:ln w="12700">
            <a:solidFill>
              <a:srgbClr val="E8ECF2"/>
            </a:solidFill>
            <a:prstDash val="solid"/>
          </a:ln>
        </p:spPr>
      </p:sp>
      <p:sp>
        <p:nvSpPr>
          <p:cNvPr id="10" name="Shape 8"/>
          <p:cNvSpPr/>
          <p:nvPr/>
        </p:nvSpPr>
        <p:spPr>
          <a:xfrm>
            <a:off x="2084832" y="1115568"/>
            <a:ext cx="45720" cy="594360"/>
          </a:xfrm>
          <a:prstGeom prst="rect">
            <a:avLst/>
          </a:prstGeom>
          <a:solidFill>
            <a:srgbClr val="B8963E"/>
          </a:solidFill>
          <a:ln w="12700">
            <a:solidFill>
              <a:srgbClr val="B8963E"/>
            </a:solidFill>
            <a:prstDash val="solid"/>
          </a:ln>
        </p:spPr>
      </p:sp>
      <p:sp>
        <p:nvSpPr>
          <p:cNvPr id="11" name="Text 9"/>
          <p:cNvSpPr/>
          <p:nvPr/>
        </p:nvSpPr>
        <p:spPr>
          <a:xfrm>
            <a:off x="2212848" y="1152144"/>
            <a:ext cx="6492240" cy="521208"/>
          </a:xfrm>
          <a:prstGeom prst="rect">
            <a:avLst/>
          </a:prstGeom>
          <a:noFill/>
          <a:ln/>
        </p:spPr>
        <p:txBody>
          <a:bodyPr wrap="square" rtlCol="0" anchor="ctr"/>
          <a:lstStyle/>
          <a:p>
            <a:pPr marL="0" indent="0">
              <a:lnSpc>
                <a:spcPct val="130000"/>
              </a:lnSpc>
              <a:buNone/>
            </a:pPr>
            <a:r>
              <a:rPr lang="en-US" sz="1100" dirty="0">
                <a:solidFill>
                  <a:srgbClr val="4A5568"/>
                </a:solidFill>
                <a:latin typeface="Calibri" pitchFamily="34" charset="0"/>
                <a:ea typeface="Calibri" pitchFamily="34" charset="-122"/>
                <a:cs typeface="Calibri" pitchFamily="34" charset="-120"/>
              </a:rPr>
              <a:t>React.js, HTML5, CSS3 — Component-based SPA with responsive layouts. State managed via React Hooks; styled with Flexbox and CSS Grid for a clean, device-adaptive interface.</a:t>
            </a:r>
            <a:endParaRPr lang="en-US" sz="1100" dirty="0"/>
          </a:p>
        </p:txBody>
      </p:sp>
      <p:sp>
        <p:nvSpPr>
          <p:cNvPr id="12" name="Shape 10"/>
          <p:cNvSpPr/>
          <p:nvPr/>
        </p:nvSpPr>
        <p:spPr>
          <a:xfrm>
            <a:off x="320040" y="1847088"/>
            <a:ext cx="1463040" cy="594360"/>
          </a:xfrm>
          <a:prstGeom prst="rect">
            <a:avLst/>
          </a:prstGeom>
          <a:solidFill>
            <a:srgbClr val="1B2A4A"/>
          </a:solidFill>
          <a:ln w="12700">
            <a:solidFill>
              <a:srgbClr val="1B2A4A"/>
            </a:solidFill>
            <a:prstDash val="solid"/>
          </a:ln>
        </p:spPr>
      </p:sp>
      <p:sp>
        <p:nvSpPr>
          <p:cNvPr id="13" name="Text 11"/>
          <p:cNvSpPr/>
          <p:nvPr/>
        </p:nvSpPr>
        <p:spPr>
          <a:xfrm>
            <a:off x="320040" y="1847088"/>
            <a:ext cx="146304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p:txBody>
      </p:sp>
      <p:sp>
        <p:nvSpPr>
          <p:cNvPr id="14" name="Shape 12"/>
          <p:cNvSpPr/>
          <p:nvPr/>
        </p:nvSpPr>
        <p:spPr>
          <a:xfrm>
            <a:off x="1847088" y="2048256"/>
            <a:ext cx="182880" cy="182880"/>
          </a:xfrm>
          <a:prstGeom prst="ellipse">
            <a:avLst/>
          </a:prstGeom>
          <a:solidFill>
            <a:srgbClr val="B8963E"/>
          </a:solidFill>
          <a:ln w="12700">
            <a:solidFill>
              <a:srgbClr val="B8963E"/>
            </a:solidFill>
            <a:prstDash val="solid"/>
          </a:ln>
        </p:spPr>
      </p:sp>
      <p:sp>
        <p:nvSpPr>
          <p:cNvPr id="15" name="Shape 13"/>
          <p:cNvSpPr/>
          <p:nvPr/>
        </p:nvSpPr>
        <p:spPr>
          <a:xfrm>
            <a:off x="2084832" y="1847088"/>
            <a:ext cx="6720840" cy="594360"/>
          </a:xfrm>
          <a:prstGeom prst="rect">
            <a:avLst/>
          </a:prstGeom>
          <a:solidFill>
            <a:srgbClr val="FFFFFF"/>
          </a:solidFill>
          <a:ln w="12700">
            <a:solidFill>
              <a:srgbClr val="E8ECF2"/>
            </a:solidFill>
            <a:prstDash val="solid"/>
          </a:ln>
        </p:spPr>
      </p:sp>
      <p:sp>
        <p:nvSpPr>
          <p:cNvPr id="16" name="Shape 14"/>
          <p:cNvSpPr/>
          <p:nvPr/>
        </p:nvSpPr>
        <p:spPr>
          <a:xfrm>
            <a:off x="2084832" y="1847088"/>
            <a:ext cx="45720" cy="594360"/>
          </a:xfrm>
          <a:prstGeom prst="rect">
            <a:avLst/>
          </a:prstGeom>
          <a:solidFill>
            <a:srgbClr val="B8963E"/>
          </a:solidFill>
          <a:ln w="12700">
            <a:solidFill>
              <a:srgbClr val="B8963E"/>
            </a:solidFill>
            <a:prstDash val="solid"/>
          </a:ln>
        </p:spPr>
      </p:sp>
      <p:sp>
        <p:nvSpPr>
          <p:cNvPr id="17" name="Text 15"/>
          <p:cNvSpPr/>
          <p:nvPr/>
        </p:nvSpPr>
        <p:spPr>
          <a:xfrm>
            <a:off x="2212848" y="1883664"/>
            <a:ext cx="6492240" cy="521208"/>
          </a:xfrm>
          <a:prstGeom prst="rect">
            <a:avLst/>
          </a:prstGeom>
          <a:noFill/>
          <a:ln/>
        </p:spPr>
        <p:txBody>
          <a:bodyPr wrap="square" rtlCol="0" anchor="ctr"/>
          <a:lstStyle/>
          <a:p>
            <a:pPr marL="0" indent="0">
              <a:lnSpc>
                <a:spcPct val="130000"/>
              </a:lnSpc>
              <a:buNone/>
            </a:pPr>
            <a:r>
              <a:rPr lang="en-US" sz="1100" dirty="0">
                <a:solidFill>
                  <a:srgbClr val="4A5568"/>
                </a:solidFill>
                <a:latin typeface="Calibri" pitchFamily="34" charset="0"/>
                <a:ea typeface="Calibri" pitchFamily="34" charset="-122"/>
                <a:cs typeface="Calibri" pitchFamily="34" charset="-120"/>
              </a:rPr>
              <a:t>Python (Django / Flask) — RESTful API layer that handles all search requests, orchestrates scraping jobs, manages user sessions, and processes watchlist and alert operations.</a:t>
            </a:r>
            <a:endParaRPr lang="en-US" sz="1100" dirty="0"/>
          </a:p>
        </p:txBody>
      </p:sp>
      <p:sp>
        <p:nvSpPr>
          <p:cNvPr id="18" name="Shape 16"/>
          <p:cNvSpPr/>
          <p:nvPr/>
        </p:nvSpPr>
        <p:spPr>
          <a:xfrm>
            <a:off x="320040" y="2578608"/>
            <a:ext cx="1463040" cy="594360"/>
          </a:xfrm>
          <a:prstGeom prst="rect">
            <a:avLst/>
          </a:prstGeom>
          <a:solidFill>
            <a:srgbClr val="1B2A4A"/>
          </a:solidFill>
          <a:ln w="12700">
            <a:solidFill>
              <a:srgbClr val="1B2A4A"/>
            </a:solidFill>
            <a:prstDash val="solid"/>
          </a:ln>
        </p:spPr>
      </p:sp>
      <p:sp>
        <p:nvSpPr>
          <p:cNvPr id="19" name="Text 17"/>
          <p:cNvSpPr/>
          <p:nvPr/>
        </p:nvSpPr>
        <p:spPr>
          <a:xfrm>
            <a:off x="320040" y="2578608"/>
            <a:ext cx="146304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Scraping</a:t>
            </a:r>
            <a:endParaRPr lang="en-US" sz="1200" dirty="0"/>
          </a:p>
        </p:txBody>
      </p:sp>
      <p:sp>
        <p:nvSpPr>
          <p:cNvPr id="20" name="Shape 18"/>
          <p:cNvSpPr/>
          <p:nvPr/>
        </p:nvSpPr>
        <p:spPr>
          <a:xfrm>
            <a:off x="1847088" y="2779776"/>
            <a:ext cx="182880" cy="182880"/>
          </a:xfrm>
          <a:prstGeom prst="ellipse">
            <a:avLst/>
          </a:prstGeom>
          <a:solidFill>
            <a:srgbClr val="B8963E"/>
          </a:solidFill>
          <a:ln w="12700">
            <a:solidFill>
              <a:srgbClr val="B8963E"/>
            </a:solidFill>
            <a:prstDash val="solid"/>
          </a:ln>
        </p:spPr>
      </p:sp>
      <p:sp>
        <p:nvSpPr>
          <p:cNvPr id="21" name="Shape 19"/>
          <p:cNvSpPr/>
          <p:nvPr/>
        </p:nvSpPr>
        <p:spPr>
          <a:xfrm>
            <a:off x="2084832" y="2578608"/>
            <a:ext cx="6720840" cy="594360"/>
          </a:xfrm>
          <a:prstGeom prst="rect">
            <a:avLst/>
          </a:prstGeom>
          <a:solidFill>
            <a:srgbClr val="FFFFFF"/>
          </a:solidFill>
          <a:ln w="12700">
            <a:solidFill>
              <a:srgbClr val="E8ECF2"/>
            </a:solidFill>
            <a:prstDash val="solid"/>
          </a:ln>
        </p:spPr>
      </p:sp>
      <p:sp>
        <p:nvSpPr>
          <p:cNvPr id="22" name="Shape 20"/>
          <p:cNvSpPr/>
          <p:nvPr/>
        </p:nvSpPr>
        <p:spPr>
          <a:xfrm>
            <a:off x="2084832" y="2578608"/>
            <a:ext cx="45720" cy="594360"/>
          </a:xfrm>
          <a:prstGeom prst="rect">
            <a:avLst/>
          </a:prstGeom>
          <a:solidFill>
            <a:srgbClr val="B8963E"/>
          </a:solidFill>
          <a:ln w="12700">
            <a:solidFill>
              <a:srgbClr val="B8963E"/>
            </a:solidFill>
            <a:prstDash val="solid"/>
          </a:ln>
        </p:spPr>
      </p:sp>
      <p:sp>
        <p:nvSpPr>
          <p:cNvPr id="23" name="Text 21"/>
          <p:cNvSpPr/>
          <p:nvPr/>
        </p:nvSpPr>
        <p:spPr>
          <a:xfrm>
            <a:off x="2212848" y="2615184"/>
            <a:ext cx="6492240" cy="521208"/>
          </a:xfrm>
          <a:prstGeom prst="rect">
            <a:avLst/>
          </a:prstGeom>
          <a:noFill/>
          <a:ln/>
        </p:spPr>
        <p:txBody>
          <a:bodyPr wrap="square" rtlCol="0" anchor="ctr"/>
          <a:lstStyle/>
          <a:p>
            <a:pPr marL="0" indent="0">
              <a:lnSpc>
                <a:spcPct val="130000"/>
              </a:lnSpc>
              <a:buNone/>
            </a:pPr>
            <a:r>
              <a:rPr lang="en-US" sz="1100" dirty="0">
                <a:solidFill>
                  <a:srgbClr val="4A5568"/>
                </a:solidFill>
                <a:latin typeface="Calibri" pitchFamily="34" charset="0"/>
                <a:ea typeface="Calibri" pitchFamily="34" charset="-122"/>
                <a:cs typeface="Calibri" pitchFamily="34" charset="-120"/>
              </a:rPr>
              <a:t>BeautifulSoup &amp; Selenium — BeautifulSoup parses static HTML storefronts; Selenium drives a headless browser for JavaScript-rendered pages. Rotating headers mitigate blocking.</a:t>
            </a:r>
            <a:endParaRPr lang="en-US" sz="1100" dirty="0"/>
          </a:p>
        </p:txBody>
      </p:sp>
      <p:sp>
        <p:nvSpPr>
          <p:cNvPr id="24" name="Shape 22"/>
          <p:cNvSpPr/>
          <p:nvPr/>
        </p:nvSpPr>
        <p:spPr>
          <a:xfrm>
            <a:off x="320040" y="3310128"/>
            <a:ext cx="1463040" cy="594360"/>
          </a:xfrm>
          <a:prstGeom prst="rect">
            <a:avLst/>
          </a:prstGeom>
          <a:solidFill>
            <a:srgbClr val="1B2A4A"/>
          </a:solidFill>
          <a:ln w="12700">
            <a:solidFill>
              <a:srgbClr val="1B2A4A"/>
            </a:solidFill>
            <a:prstDash val="solid"/>
          </a:ln>
        </p:spPr>
      </p:sp>
      <p:sp>
        <p:nvSpPr>
          <p:cNvPr id="25" name="Text 23"/>
          <p:cNvSpPr/>
          <p:nvPr/>
        </p:nvSpPr>
        <p:spPr>
          <a:xfrm>
            <a:off x="320040" y="3310128"/>
            <a:ext cx="146304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p:txBody>
      </p:sp>
      <p:sp>
        <p:nvSpPr>
          <p:cNvPr id="26" name="Shape 24"/>
          <p:cNvSpPr/>
          <p:nvPr/>
        </p:nvSpPr>
        <p:spPr>
          <a:xfrm>
            <a:off x="1847088" y="3511296"/>
            <a:ext cx="182880" cy="182880"/>
          </a:xfrm>
          <a:prstGeom prst="ellipse">
            <a:avLst/>
          </a:prstGeom>
          <a:solidFill>
            <a:srgbClr val="B8963E"/>
          </a:solidFill>
          <a:ln w="12700">
            <a:solidFill>
              <a:srgbClr val="B8963E"/>
            </a:solidFill>
            <a:prstDash val="solid"/>
          </a:ln>
        </p:spPr>
      </p:sp>
      <p:sp>
        <p:nvSpPr>
          <p:cNvPr id="27" name="Shape 25"/>
          <p:cNvSpPr/>
          <p:nvPr/>
        </p:nvSpPr>
        <p:spPr>
          <a:xfrm>
            <a:off x="2084832" y="3310128"/>
            <a:ext cx="6720840" cy="594360"/>
          </a:xfrm>
          <a:prstGeom prst="rect">
            <a:avLst/>
          </a:prstGeom>
          <a:solidFill>
            <a:srgbClr val="FFFFFF"/>
          </a:solidFill>
          <a:ln w="12700">
            <a:solidFill>
              <a:srgbClr val="E8ECF2"/>
            </a:solidFill>
            <a:prstDash val="solid"/>
          </a:ln>
        </p:spPr>
      </p:sp>
      <p:sp>
        <p:nvSpPr>
          <p:cNvPr id="28" name="Shape 26"/>
          <p:cNvSpPr/>
          <p:nvPr/>
        </p:nvSpPr>
        <p:spPr>
          <a:xfrm>
            <a:off x="2084832" y="3310128"/>
            <a:ext cx="45720" cy="594360"/>
          </a:xfrm>
          <a:prstGeom prst="rect">
            <a:avLst/>
          </a:prstGeom>
          <a:solidFill>
            <a:srgbClr val="B8963E"/>
          </a:solidFill>
          <a:ln w="12700">
            <a:solidFill>
              <a:srgbClr val="B8963E"/>
            </a:solidFill>
            <a:prstDash val="solid"/>
          </a:ln>
        </p:spPr>
      </p:sp>
      <p:sp>
        <p:nvSpPr>
          <p:cNvPr id="29" name="Text 27"/>
          <p:cNvSpPr/>
          <p:nvPr/>
        </p:nvSpPr>
        <p:spPr>
          <a:xfrm>
            <a:off x="2212848" y="3346704"/>
            <a:ext cx="6492240" cy="521208"/>
          </a:xfrm>
          <a:prstGeom prst="rect">
            <a:avLst/>
          </a:prstGeom>
          <a:noFill/>
          <a:ln/>
        </p:spPr>
        <p:txBody>
          <a:bodyPr wrap="square" rtlCol="0" anchor="ctr"/>
          <a:lstStyle/>
          <a:p>
            <a:pPr marL="0" indent="0">
              <a:lnSpc>
                <a:spcPct val="130000"/>
              </a:lnSpc>
              <a:buNone/>
            </a:pPr>
            <a:r>
              <a:rPr lang="en-US" sz="1100" dirty="0">
                <a:solidFill>
                  <a:srgbClr val="4A5568"/>
                </a:solidFill>
                <a:latin typeface="Calibri" pitchFamily="34" charset="0"/>
                <a:ea typeface="Calibri" pitchFamily="34" charset="-122"/>
                <a:cs typeface="Calibri" pitchFamily="34" charset="-120"/>
              </a:rPr>
              <a:t>MySQL / Firebase — MySQL stores structured product, price history, and user data. Firebase provides real-time alert dispatch and user authentication across sessions.</a:t>
            </a:r>
            <a:endParaRPr lang="en-US" sz="1100" dirty="0"/>
          </a:p>
        </p:txBody>
      </p:sp>
      <p:sp>
        <p:nvSpPr>
          <p:cNvPr id="30" name="Shape 28"/>
          <p:cNvSpPr/>
          <p:nvPr/>
        </p:nvSpPr>
        <p:spPr>
          <a:xfrm>
            <a:off x="320040" y="4041648"/>
            <a:ext cx="1463040" cy="594360"/>
          </a:xfrm>
          <a:prstGeom prst="rect">
            <a:avLst/>
          </a:prstGeom>
          <a:solidFill>
            <a:srgbClr val="1B2A4A"/>
          </a:solidFill>
          <a:ln w="12700">
            <a:solidFill>
              <a:srgbClr val="1B2A4A"/>
            </a:solidFill>
            <a:prstDash val="solid"/>
          </a:ln>
        </p:spPr>
      </p:sp>
      <p:sp>
        <p:nvSpPr>
          <p:cNvPr id="31" name="Text 29"/>
          <p:cNvSpPr/>
          <p:nvPr/>
        </p:nvSpPr>
        <p:spPr>
          <a:xfrm>
            <a:off x="320040" y="4041648"/>
            <a:ext cx="146304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Deployment</a:t>
            </a:r>
            <a:endParaRPr lang="en-US" sz="1200" dirty="0"/>
          </a:p>
        </p:txBody>
      </p:sp>
      <p:sp>
        <p:nvSpPr>
          <p:cNvPr id="32" name="Shape 30"/>
          <p:cNvSpPr/>
          <p:nvPr/>
        </p:nvSpPr>
        <p:spPr>
          <a:xfrm>
            <a:off x="1847088" y="4242816"/>
            <a:ext cx="182880" cy="182880"/>
          </a:xfrm>
          <a:prstGeom prst="ellipse">
            <a:avLst/>
          </a:prstGeom>
          <a:solidFill>
            <a:srgbClr val="B8963E"/>
          </a:solidFill>
          <a:ln w="12700">
            <a:solidFill>
              <a:srgbClr val="B8963E"/>
            </a:solidFill>
            <a:prstDash val="solid"/>
          </a:ln>
        </p:spPr>
      </p:sp>
      <p:sp>
        <p:nvSpPr>
          <p:cNvPr id="33" name="Shape 31"/>
          <p:cNvSpPr/>
          <p:nvPr/>
        </p:nvSpPr>
        <p:spPr>
          <a:xfrm>
            <a:off x="2084832" y="4041648"/>
            <a:ext cx="6720840" cy="594360"/>
          </a:xfrm>
          <a:prstGeom prst="rect">
            <a:avLst/>
          </a:prstGeom>
          <a:solidFill>
            <a:srgbClr val="FFFFFF"/>
          </a:solidFill>
          <a:ln w="12700">
            <a:solidFill>
              <a:srgbClr val="E8ECF2"/>
            </a:solidFill>
            <a:prstDash val="solid"/>
          </a:ln>
        </p:spPr>
      </p:sp>
      <p:sp>
        <p:nvSpPr>
          <p:cNvPr id="34" name="Shape 32"/>
          <p:cNvSpPr/>
          <p:nvPr/>
        </p:nvSpPr>
        <p:spPr>
          <a:xfrm>
            <a:off x="2084832" y="4041648"/>
            <a:ext cx="45720" cy="594360"/>
          </a:xfrm>
          <a:prstGeom prst="rect">
            <a:avLst/>
          </a:prstGeom>
          <a:solidFill>
            <a:srgbClr val="B8963E"/>
          </a:solidFill>
          <a:ln w="12700">
            <a:solidFill>
              <a:srgbClr val="B8963E"/>
            </a:solidFill>
            <a:prstDash val="solid"/>
          </a:ln>
        </p:spPr>
      </p:sp>
      <p:sp>
        <p:nvSpPr>
          <p:cNvPr id="35" name="Text 33"/>
          <p:cNvSpPr/>
          <p:nvPr/>
        </p:nvSpPr>
        <p:spPr>
          <a:xfrm>
            <a:off x="2212848" y="4078224"/>
            <a:ext cx="6492240" cy="521208"/>
          </a:xfrm>
          <a:prstGeom prst="rect">
            <a:avLst/>
          </a:prstGeom>
          <a:noFill/>
          <a:ln/>
        </p:spPr>
        <p:txBody>
          <a:bodyPr wrap="square" rtlCol="0" anchor="ctr"/>
          <a:lstStyle/>
          <a:p>
            <a:pPr marL="0" indent="0">
              <a:lnSpc>
                <a:spcPct val="130000"/>
              </a:lnSpc>
              <a:buNone/>
            </a:pPr>
            <a:r>
              <a:rPr lang="en-US" sz="1100" dirty="0">
                <a:solidFill>
                  <a:srgbClr val="4A5568"/>
                </a:solidFill>
                <a:latin typeface="Calibri" pitchFamily="34" charset="0"/>
                <a:ea typeface="Calibri" pitchFamily="34" charset="-122"/>
                <a:cs typeface="Calibri" pitchFamily="34" charset="-120"/>
              </a:rPr>
              <a:t>Local development server (127.0.0.1:8000). Application architecture follows separation-of-concerns principles enabling straightforward cloud deployment to AWS, Render, or Railway.</a:t>
            </a:r>
            <a:endParaRPr lang="en-US" sz="1100" dirty="0"/>
          </a:p>
        </p:txBody>
      </p:sp>
      <p:sp>
        <p:nvSpPr>
          <p:cNvPr id="36" name="Shape 34"/>
          <p:cNvSpPr/>
          <p:nvPr/>
        </p:nvSpPr>
        <p:spPr>
          <a:xfrm>
            <a:off x="0" y="4892040"/>
            <a:ext cx="9144000" cy="251460"/>
          </a:xfrm>
          <a:prstGeom prst="rect">
            <a:avLst/>
          </a:prstGeom>
          <a:solidFill>
            <a:srgbClr val="1B2A4A"/>
          </a:solidFill>
          <a:ln w="12700">
            <a:solidFill>
              <a:srgbClr val="1B2A4A"/>
            </a:solidFill>
            <a:prstDash val="solid"/>
          </a:ln>
        </p:spPr>
      </p:sp>
      <p:sp>
        <p:nvSpPr>
          <p:cNvPr id="37" name="Text 35"/>
          <p:cNvSpPr/>
          <p:nvPr/>
        </p:nvSpPr>
        <p:spPr>
          <a:xfrm>
            <a:off x="320040" y="4892040"/>
            <a:ext cx="8503920" cy="251460"/>
          </a:xfrm>
          <a:prstGeom prst="rect">
            <a:avLst/>
          </a:prstGeom>
          <a:noFill/>
          <a:ln/>
        </p:spPr>
        <p:txBody>
          <a:bodyPr wrap="square" rtlCol="0" anchor="ctr"/>
          <a:lstStyle/>
          <a:p>
            <a:pPr marL="0" indent="0" algn="ctr">
              <a:buNone/>
            </a:pPr>
            <a:r>
              <a:rPr lang="en-US" sz="900" dirty="0">
                <a:solidFill>
                  <a:srgbClr val="D4AF5A"/>
                </a:solidFill>
                <a:latin typeface="Calibri" pitchFamily="34" charset="0"/>
                <a:ea typeface="Calibri" pitchFamily="34" charset="-122"/>
                <a:cs typeface="Calibri" pitchFamily="34" charset="-120"/>
              </a:rPr>
              <a:t>Price Comparison Web Application  ·  Internship Project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sp>
      <p:sp>
        <p:nvSpPr>
          <p:cNvPr id="3" name="Shape 1"/>
          <p:cNvSpPr/>
          <p:nvPr/>
        </p:nvSpPr>
        <p:spPr>
          <a:xfrm>
            <a:off x="0" y="960120"/>
            <a:ext cx="9144000" cy="36576"/>
          </a:xfrm>
          <a:prstGeom prst="rect">
            <a:avLst/>
          </a:prstGeom>
          <a:solidFill>
            <a:srgbClr val="B8963E"/>
          </a:solidFill>
          <a:ln w="12700">
            <a:solidFill>
              <a:srgbClr val="B8963E"/>
            </a:solidFill>
            <a:prstDash val="solid"/>
          </a:ln>
        </p:spPr>
      </p:sp>
      <p:sp>
        <p:nvSpPr>
          <p:cNvPr id="4" name="Text 2"/>
          <p:cNvSpPr/>
          <p:nvPr/>
        </p:nvSpPr>
        <p:spPr>
          <a:xfrm>
            <a:off x="365760" y="118872"/>
            <a:ext cx="768096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Application Flow &amp; Key Features</a:t>
            </a:r>
            <a:endParaRPr lang="en-US" sz="2600" dirty="0"/>
          </a:p>
        </p:txBody>
      </p:sp>
      <p:sp>
        <p:nvSpPr>
          <p:cNvPr id="5" name="Text 3"/>
          <p:cNvSpPr/>
          <p:nvPr/>
        </p:nvSpPr>
        <p:spPr>
          <a:xfrm>
            <a:off x="8046720" y="118872"/>
            <a:ext cx="914400" cy="731520"/>
          </a:xfrm>
          <a:prstGeom prst="rect">
            <a:avLst/>
          </a:prstGeom>
          <a:noFill/>
          <a:ln/>
        </p:spPr>
        <p:txBody>
          <a:bodyPr wrap="square" rtlCol="0" anchor="ctr"/>
          <a:lstStyle/>
          <a:p>
            <a:pPr marL="0" indent="0" algn="r">
              <a:buNone/>
            </a:pPr>
            <a:r>
              <a:rPr lang="en-US" sz="2200" b="1" dirty="0">
                <a:solidFill>
                  <a:srgbClr val="D4AF5A"/>
                </a:solidFill>
                <a:latin typeface="Calibri" pitchFamily="34" charset="0"/>
                <a:ea typeface="Calibri" pitchFamily="34" charset="-122"/>
                <a:cs typeface="Calibri" pitchFamily="34" charset="-120"/>
              </a:rPr>
              <a:t>07</a:t>
            </a:r>
            <a:endParaRPr lang="en-US" sz="2200" dirty="0"/>
          </a:p>
        </p:txBody>
      </p:sp>
      <p:sp>
        <p:nvSpPr>
          <p:cNvPr id="6" name="Shape 4"/>
          <p:cNvSpPr/>
          <p:nvPr/>
        </p:nvSpPr>
        <p:spPr>
          <a:xfrm>
            <a:off x="457200" y="1572768"/>
            <a:ext cx="8092440" cy="36576"/>
          </a:xfrm>
          <a:prstGeom prst="rect">
            <a:avLst/>
          </a:prstGeom>
          <a:solidFill>
            <a:srgbClr val="B8963E"/>
          </a:solidFill>
          <a:ln w="12700">
            <a:solidFill>
              <a:srgbClr val="B8963E"/>
            </a:solidFill>
            <a:prstDash val="solid"/>
          </a:ln>
        </p:spPr>
      </p:sp>
      <p:sp>
        <p:nvSpPr>
          <p:cNvPr id="7" name="Shape 5"/>
          <p:cNvSpPr/>
          <p:nvPr/>
        </p:nvSpPr>
        <p:spPr>
          <a:xfrm>
            <a:off x="822960" y="1353312"/>
            <a:ext cx="411480" cy="411480"/>
          </a:xfrm>
          <a:prstGeom prst="ellipse">
            <a:avLst/>
          </a:prstGeom>
          <a:solidFill>
            <a:srgbClr val="1B2A4A"/>
          </a:solidFill>
          <a:ln w="25400">
            <a:solidFill>
              <a:srgbClr val="B8963E"/>
            </a:solidFill>
            <a:prstDash val="solid"/>
          </a:ln>
        </p:spPr>
      </p:sp>
      <p:sp>
        <p:nvSpPr>
          <p:cNvPr id="8" name="Text 6"/>
          <p:cNvSpPr/>
          <p:nvPr/>
        </p:nvSpPr>
        <p:spPr>
          <a:xfrm>
            <a:off x="822960" y="1353312"/>
            <a:ext cx="411480" cy="411480"/>
          </a:xfrm>
          <a:prstGeom prst="rect">
            <a:avLst/>
          </a:prstGeom>
          <a:noFill/>
          <a:ln/>
        </p:spPr>
        <p:txBody>
          <a:bodyPr wrap="square" rtlCol="0" anchor="ctr"/>
          <a:lstStyle/>
          <a:p>
            <a:pPr marL="0" indent="0" algn="ctr">
              <a:buNone/>
            </a:pPr>
            <a:r>
              <a:rPr lang="en-US" sz="1200" b="1" dirty="0">
                <a:solidFill>
                  <a:srgbClr val="B8963E"/>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365760" y="1874520"/>
            <a:ext cx="1600200" cy="320040"/>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Search</a:t>
            </a:r>
            <a:endParaRPr lang="en-US" sz="1150" dirty="0"/>
          </a:p>
        </p:txBody>
      </p:sp>
      <p:sp>
        <p:nvSpPr>
          <p:cNvPr id="10" name="Text 8"/>
          <p:cNvSpPr/>
          <p:nvPr/>
        </p:nvSpPr>
        <p:spPr>
          <a:xfrm>
            <a:off x="365760" y="2212848"/>
            <a:ext cx="1600200" cy="548640"/>
          </a:xfrm>
          <a:prstGeom prst="rect">
            <a:avLst/>
          </a:prstGeom>
          <a:noFill/>
          <a:ln/>
        </p:spPr>
        <p:txBody>
          <a:bodyPr wrap="square" rtlCol="0" anchor="ctr"/>
          <a:lstStyle/>
          <a:p>
            <a:pPr marL="0" indent="0" algn="ctr">
              <a:lnSpc>
                <a:spcPct val="125000"/>
              </a:lnSpc>
              <a:buNone/>
            </a:pPr>
            <a:r>
              <a:rPr lang="en-US" sz="950" dirty="0">
                <a:solidFill>
                  <a:srgbClr val="4A5568"/>
                </a:solidFill>
                <a:latin typeface="Calibri" pitchFamily="34" charset="0"/>
                <a:ea typeface="Calibri" pitchFamily="34" charset="-122"/>
                <a:cs typeface="Calibri" pitchFamily="34" charset="-120"/>
              </a:rPr>
              <a:t>User enters SKU, brand name, or pastes a product URL</a:t>
            </a:r>
            <a:endParaRPr lang="en-US" sz="950" dirty="0"/>
          </a:p>
        </p:txBody>
      </p:sp>
      <p:sp>
        <p:nvSpPr>
          <p:cNvPr id="11" name="Shape 9"/>
          <p:cNvSpPr/>
          <p:nvPr/>
        </p:nvSpPr>
        <p:spPr>
          <a:xfrm>
            <a:off x="2514600" y="1353312"/>
            <a:ext cx="411480" cy="411480"/>
          </a:xfrm>
          <a:prstGeom prst="ellipse">
            <a:avLst/>
          </a:prstGeom>
          <a:solidFill>
            <a:srgbClr val="1B2A4A"/>
          </a:solidFill>
          <a:ln w="25400">
            <a:solidFill>
              <a:srgbClr val="B8963E"/>
            </a:solidFill>
            <a:prstDash val="solid"/>
          </a:ln>
        </p:spPr>
      </p:sp>
      <p:sp>
        <p:nvSpPr>
          <p:cNvPr id="12" name="Text 10"/>
          <p:cNvSpPr/>
          <p:nvPr/>
        </p:nvSpPr>
        <p:spPr>
          <a:xfrm>
            <a:off x="2514600" y="1353312"/>
            <a:ext cx="411480" cy="411480"/>
          </a:xfrm>
          <a:prstGeom prst="rect">
            <a:avLst/>
          </a:prstGeom>
          <a:noFill/>
          <a:ln/>
        </p:spPr>
        <p:txBody>
          <a:bodyPr wrap="square" rtlCol="0" anchor="ctr"/>
          <a:lstStyle/>
          <a:p>
            <a:pPr marL="0" indent="0" algn="ctr">
              <a:buNone/>
            </a:pPr>
            <a:r>
              <a:rPr lang="en-US" sz="1200" b="1" dirty="0">
                <a:solidFill>
                  <a:srgbClr val="B8963E"/>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2057400" y="1874520"/>
            <a:ext cx="1600200" cy="320040"/>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Scrape</a:t>
            </a:r>
            <a:endParaRPr lang="en-US" sz="1150" dirty="0"/>
          </a:p>
        </p:txBody>
      </p:sp>
      <p:sp>
        <p:nvSpPr>
          <p:cNvPr id="14" name="Text 12"/>
          <p:cNvSpPr/>
          <p:nvPr/>
        </p:nvSpPr>
        <p:spPr>
          <a:xfrm>
            <a:off x="2057400" y="2212848"/>
            <a:ext cx="1600200" cy="548640"/>
          </a:xfrm>
          <a:prstGeom prst="rect">
            <a:avLst/>
          </a:prstGeom>
          <a:noFill/>
          <a:ln/>
        </p:spPr>
        <p:txBody>
          <a:bodyPr wrap="square" rtlCol="0" anchor="ctr"/>
          <a:lstStyle/>
          <a:p>
            <a:pPr marL="0" indent="0" algn="ctr">
              <a:lnSpc>
                <a:spcPct val="125000"/>
              </a:lnSpc>
              <a:buNone/>
            </a:pPr>
            <a:r>
              <a:rPr lang="en-US" sz="950" dirty="0">
                <a:solidFill>
                  <a:srgbClr val="4A5568"/>
                </a:solidFill>
                <a:latin typeface="Calibri" pitchFamily="34" charset="0"/>
                <a:ea typeface="Calibri" pitchFamily="34" charset="-122"/>
                <a:cs typeface="Calibri" pitchFamily="34" charset="-120"/>
              </a:rPr>
              <a:t>BeautifulSoup &amp; Selenium fetch live prices from multiple stores</a:t>
            </a:r>
            <a:endParaRPr lang="en-US" sz="950" dirty="0"/>
          </a:p>
        </p:txBody>
      </p:sp>
      <p:sp>
        <p:nvSpPr>
          <p:cNvPr id="15" name="Shape 13"/>
          <p:cNvSpPr/>
          <p:nvPr/>
        </p:nvSpPr>
        <p:spPr>
          <a:xfrm>
            <a:off x="4206240" y="1353312"/>
            <a:ext cx="411480" cy="411480"/>
          </a:xfrm>
          <a:prstGeom prst="ellipse">
            <a:avLst/>
          </a:prstGeom>
          <a:solidFill>
            <a:srgbClr val="1B2A4A"/>
          </a:solidFill>
          <a:ln w="25400">
            <a:solidFill>
              <a:srgbClr val="B8963E"/>
            </a:solidFill>
            <a:prstDash val="solid"/>
          </a:ln>
        </p:spPr>
      </p:sp>
      <p:sp>
        <p:nvSpPr>
          <p:cNvPr id="16" name="Text 14"/>
          <p:cNvSpPr/>
          <p:nvPr/>
        </p:nvSpPr>
        <p:spPr>
          <a:xfrm>
            <a:off x="4206240" y="1353312"/>
            <a:ext cx="411480" cy="411480"/>
          </a:xfrm>
          <a:prstGeom prst="rect">
            <a:avLst/>
          </a:prstGeom>
          <a:noFill/>
          <a:ln/>
        </p:spPr>
        <p:txBody>
          <a:bodyPr wrap="square" rtlCol="0" anchor="ctr"/>
          <a:lstStyle/>
          <a:p>
            <a:pPr marL="0" indent="0" algn="ctr">
              <a:buNone/>
            </a:pPr>
            <a:r>
              <a:rPr lang="en-US" sz="1200" b="1" dirty="0">
                <a:solidFill>
                  <a:srgbClr val="B8963E"/>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3749040" y="1874520"/>
            <a:ext cx="1600200" cy="320040"/>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Compare</a:t>
            </a:r>
            <a:endParaRPr lang="en-US" sz="1150" dirty="0"/>
          </a:p>
        </p:txBody>
      </p:sp>
      <p:sp>
        <p:nvSpPr>
          <p:cNvPr id="18" name="Text 16"/>
          <p:cNvSpPr/>
          <p:nvPr/>
        </p:nvSpPr>
        <p:spPr>
          <a:xfrm>
            <a:off x="3749040" y="2212848"/>
            <a:ext cx="1600200" cy="548640"/>
          </a:xfrm>
          <a:prstGeom prst="rect">
            <a:avLst/>
          </a:prstGeom>
          <a:noFill/>
          <a:ln/>
        </p:spPr>
        <p:txBody>
          <a:bodyPr wrap="square" rtlCol="0" anchor="ctr"/>
          <a:lstStyle/>
          <a:p>
            <a:pPr marL="0" indent="0" algn="ctr">
              <a:lnSpc>
                <a:spcPct val="125000"/>
              </a:lnSpc>
              <a:buNone/>
            </a:pPr>
            <a:r>
              <a:rPr lang="en-US" sz="950" dirty="0">
                <a:solidFill>
                  <a:srgbClr val="4A5568"/>
                </a:solidFill>
                <a:latin typeface="Calibri" pitchFamily="34" charset="0"/>
                <a:ea typeface="Calibri" pitchFamily="34" charset="-122"/>
                <a:cs typeface="Calibri" pitchFamily="34" charset="-120"/>
              </a:rPr>
              <a:t>Results ranked by price; best deal highlighted instantly</a:t>
            </a:r>
            <a:endParaRPr lang="en-US" sz="950" dirty="0"/>
          </a:p>
        </p:txBody>
      </p:sp>
      <p:sp>
        <p:nvSpPr>
          <p:cNvPr id="19" name="Shape 17"/>
          <p:cNvSpPr/>
          <p:nvPr/>
        </p:nvSpPr>
        <p:spPr>
          <a:xfrm>
            <a:off x="5897880" y="1353312"/>
            <a:ext cx="411480" cy="411480"/>
          </a:xfrm>
          <a:prstGeom prst="ellipse">
            <a:avLst/>
          </a:prstGeom>
          <a:solidFill>
            <a:srgbClr val="1B2A4A"/>
          </a:solidFill>
          <a:ln w="25400">
            <a:solidFill>
              <a:srgbClr val="B8963E"/>
            </a:solidFill>
            <a:prstDash val="solid"/>
          </a:ln>
        </p:spPr>
      </p:sp>
      <p:sp>
        <p:nvSpPr>
          <p:cNvPr id="20" name="Text 18"/>
          <p:cNvSpPr/>
          <p:nvPr/>
        </p:nvSpPr>
        <p:spPr>
          <a:xfrm>
            <a:off x="5897880" y="1353312"/>
            <a:ext cx="411480" cy="411480"/>
          </a:xfrm>
          <a:prstGeom prst="rect">
            <a:avLst/>
          </a:prstGeom>
          <a:noFill/>
          <a:ln/>
        </p:spPr>
        <p:txBody>
          <a:bodyPr wrap="square" rtlCol="0" anchor="ctr"/>
          <a:lstStyle/>
          <a:p>
            <a:pPr marL="0" indent="0" algn="ctr">
              <a:buNone/>
            </a:pPr>
            <a:r>
              <a:rPr lang="en-US" sz="1200" b="1" dirty="0">
                <a:solidFill>
                  <a:srgbClr val="B8963E"/>
                </a:solidFill>
                <a:latin typeface="Calibri" pitchFamily="34" charset="0"/>
                <a:ea typeface="Calibri" pitchFamily="34" charset="-122"/>
                <a:cs typeface="Calibri" pitchFamily="34" charset="-120"/>
              </a:rPr>
              <a:t>4</a:t>
            </a:r>
            <a:endParaRPr lang="en-US" sz="1200" dirty="0"/>
          </a:p>
        </p:txBody>
      </p:sp>
      <p:sp>
        <p:nvSpPr>
          <p:cNvPr id="21" name="Text 19"/>
          <p:cNvSpPr/>
          <p:nvPr/>
        </p:nvSpPr>
        <p:spPr>
          <a:xfrm>
            <a:off x="5440680" y="1874520"/>
            <a:ext cx="1600200" cy="320040"/>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Analyse</a:t>
            </a:r>
            <a:endParaRPr lang="en-US" sz="1150" dirty="0"/>
          </a:p>
        </p:txBody>
      </p:sp>
      <p:sp>
        <p:nvSpPr>
          <p:cNvPr id="22" name="Text 20"/>
          <p:cNvSpPr/>
          <p:nvPr/>
        </p:nvSpPr>
        <p:spPr>
          <a:xfrm>
            <a:off x="5440680" y="2212848"/>
            <a:ext cx="1600200" cy="548640"/>
          </a:xfrm>
          <a:prstGeom prst="rect">
            <a:avLst/>
          </a:prstGeom>
          <a:noFill/>
          <a:ln/>
        </p:spPr>
        <p:txBody>
          <a:bodyPr wrap="square" rtlCol="0" anchor="ctr"/>
          <a:lstStyle/>
          <a:p>
            <a:pPr marL="0" indent="0" algn="ctr">
              <a:lnSpc>
                <a:spcPct val="125000"/>
              </a:lnSpc>
              <a:buNone/>
            </a:pPr>
            <a:r>
              <a:rPr lang="en-US" sz="950" dirty="0">
                <a:solidFill>
                  <a:srgbClr val="4A5568"/>
                </a:solidFill>
                <a:latin typeface="Calibri" pitchFamily="34" charset="0"/>
                <a:ea typeface="Calibri" pitchFamily="34" charset="-122"/>
                <a:cs typeface="Calibri" pitchFamily="34" charset="-120"/>
              </a:rPr>
              <a:t>Price trend chart; insights on lowest, average &amp; % change</a:t>
            </a:r>
            <a:endParaRPr lang="en-US" sz="950" dirty="0"/>
          </a:p>
        </p:txBody>
      </p:sp>
      <p:sp>
        <p:nvSpPr>
          <p:cNvPr id="23" name="Shape 21"/>
          <p:cNvSpPr/>
          <p:nvPr/>
        </p:nvSpPr>
        <p:spPr>
          <a:xfrm>
            <a:off x="7589520" y="1353312"/>
            <a:ext cx="411480" cy="411480"/>
          </a:xfrm>
          <a:prstGeom prst="ellipse">
            <a:avLst/>
          </a:prstGeom>
          <a:solidFill>
            <a:srgbClr val="1B2A4A"/>
          </a:solidFill>
          <a:ln w="25400">
            <a:solidFill>
              <a:srgbClr val="B8963E"/>
            </a:solidFill>
            <a:prstDash val="solid"/>
          </a:ln>
        </p:spPr>
      </p:sp>
      <p:sp>
        <p:nvSpPr>
          <p:cNvPr id="24" name="Text 22"/>
          <p:cNvSpPr/>
          <p:nvPr/>
        </p:nvSpPr>
        <p:spPr>
          <a:xfrm>
            <a:off x="7589520" y="1353312"/>
            <a:ext cx="411480" cy="411480"/>
          </a:xfrm>
          <a:prstGeom prst="rect">
            <a:avLst/>
          </a:prstGeom>
          <a:noFill/>
          <a:ln/>
        </p:spPr>
        <p:txBody>
          <a:bodyPr wrap="square" rtlCol="0" anchor="ctr"/>
          <a:lstStyle/>
          <a:p>
            <a:pPr marL="0" indent="0" algn="ctr">
              <a:buNone/>
            </a:pPr>
            <a:r>
              <a:rPr lang="en-US" sz="1200" b="1" dirty="0">
                <a:solidFill>
                  <a:srgbClr val="B8963E"/>
                </a:solidFill>
                <a:latin typeface="Calibri" pitchFamily="34" charset="0"/>
                <a:ea typeface="Calibri" pitchFamily="34" charset="-122"/>
                <a:cs typeface="Calibri" pitchFamily="34" charset="-120"/>
              </a:rPr>
              <a:t>5</a:t>
            </a:r>
            <a:endParaRPr lang="en-US" sz="1200" dirty="0"/>
          </a:p>
        </p:txBody>
      </p:sp>
      <p:sp>
        <p:nvSpPr>
          <p:cNvPr id="25" name="Text 23"/>
          <p:cNvSpPr/>
          <p:nvPr/>
        </p:nvSpPr>
        <p:spPr>
          <a:xfrm>
            <a:off x="7132320" y="1874520"/>
            <a:ext cx="1600200" cy="320040"/>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Track &amp; Alert</a:t>
            </a:r>
            <a:endParaRPr lang="en-US" sz="1150" dirty="0"/>
          </a:p>
        </p:txBody>
      </p:sp>
      <p:sp>
        <p:nvSpPr>
          <p:cNvPr id="26" name="Text 24"/>
          <p:cNvSpPr/>
          <p:nvPr/>
        </p:nvSpPr>
        <p:spPr>
          <a:xfrm>
            <a:off x="7132320" y="2212848"/>
            <a:ext cx="1600200" cy="548640"/>
          </a:xfrm>
          <a:prstGeom prst="rect">
            <a:avLst/>
          </a:prstGeom>
          <a:noFill/>
          <a:ln/>
        </p:spPr>
        <p:txBody>
          <a:bodyPr wrap="square" rtlCol="0" anchor="ctr"/>
          <a:lstStyle/>
          <a:p>
            <a:pPr marL="0" indent="0" algn="ctr">
              <a:lnSpc>
                <a:spcPct val="125000"/>
              </a:lnSpc>
              <a:buNone/>
            </a:pPr>
            <a:r>
              <a:rPr lang="en-US" sz="950" dirty="0">
                <a:solidFill>
                  <a:srgbClr val="4A5568"/>
                </a:solidFill>
                <a:latin typeface="Calibri" pitchFamily="34" charset="0"/>
                <a:ea typeface="Calibri" pitchFamily="34" charset="-122"/>
                <a:cs typeface="Calibri" pitchFamily="34" charset="-120"/>
              </a:rPr>
              <a:t>Add to Watchlist; set Min/Max alert for price-drop notifications</a:t>
            </a:r>
            <a:endParaRPr lang="en-US" sz="950" dirty="0"/>
          </a:p>
        </p:txBody>
      </p:sp>
      <p:sp>
        <p:nvSpPr>
          <p:cNvPr id="27" name="Text 25"/>
          <p:cNvSpPr/>
          <p:nvPr/>
        </p:nvSpPr>
        <p:spPr>
          <a:xfrm>
            <a:off x="320040" y="2907792"/>
            <a:ext cx="3657600" cy="29260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Key Features</a:t>
            </a:r>
            <a:endParaRPr lang="en-US" sz="1300" dirty="0"/>
          </a:p>
        </p:txBody>
      </p:sp>
      <p:sp>
        <p:nvSpPr>
          <p:cNvPr id="28" name="Shape 26"/>
          <p:cNvSpPr/>
          <p:nvPr/>
        </p:nvSpPr>
        <p:spPr>
          <a:xfrm>
            <a:off x="320040" y="3191256"/>
            <a:ext cx="8503920" cy="27432"/>
          </a:xfrm>
          <a:prstGeom prst="rect">
            <a:avLst/>
          </a:prstGeom>
          <a:solidFill>
            <a:srgbClr val="B8963E"/>
          </a:solidFill>
          <a:ln w="12700">
            <a:solidFill>
              <a:srgbClr val="B8963E"/>
            </a:solidFill>
            <a:prstDash val="solid"/>
          </a:ln>
        </p:spPr>
      </p:sp>
      <p:sp>
        <p:nvSpPr>
          <p:cNvPr id="29" name="Shape 27"/>
          <p:cNvSpPr/>
          <p:nvPr/>
        </p:nvSpPr>
        <p:spPr>
          <a:xfrm>
            <a:off x="347472" y="3264408"/>
            <a:ext cx="4160520" cy="566928"/>
          </a:xfrm>
          <a:prstGeom prst="rect">
            <a:avLst/>
          </a:prstGeom>
          <a:solidFill>
            <a:srgbClr val="FFFFFF"/>
          </a:solidFill>
          <a:ln w="12700">
            <a:solidFill>
              <a:srgbClr val="E8ECF2"/>
            </a:solidFill>
            <a:prstDash val="solid"/>
          </a:ln>
          <a:effectLst>
            <a:outerShdw blurRad="63500" dist="25400" dir="8100000" algn="bl" rotWithShape="0">
              <a:srgbClr val="000000">
                <a:alpha val="10000"/>
              </a:srgbClr>
            </a:outerShdw>
          </a:effectLst>
        </p:spPr>
      </p:sp>
      <p:sp>
        <p:nvSpPr>
          <p:cNvPr id="30" name="Shape 28"/>
          <p:cNvSpPr/>
          <p:nvPr/>
        </p:nvSpPr>
        <p:spPr>
          <a:xfrm>
            <a:off x="320040" y="3291840"/>
            <a:ext cx="54864" cy="566928"/>
          </a:xfrm>
          <a:prstGeom prst="rect">
            <a:avLst/>
          </a:prstGeom>
          <a:solidFill>
            <a:srgbClr val="B8963E"/>
          </a:solidFill>
          <a:ln w="12700">
            <a:solidFill>
              <a:srgbClr val="B8963E"/>
            </a:solidFill>
            <a:prstDash val="solid"/>
          </a:ln>
        </p:spPr>
      </p:sp>
      <p:sp>
        <p:nvSpPr>
          <p:cNvPr id="31" name="Text 29"/>
          <p:cNvSpPr/>
          <p:nvPr/>
        </p:nvSpPr>
        <p:spPr>
          <a:xfrm>
            <a:off x="457200" y="3328416"/>
            <a:ext cx="3886200" cy="237744"/>
          </a:xfrm>
          <a:prstGeom prst="rect">
            <a:avLst/>
          </a:prstGeom>
          <a:noFill/>
          <a:ln/>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Multi-Store Search</a:t>
            </a:r>
            <a:endParaRPr lang="en-US" sz="1150" dirty="0"/>
          </a:p>
        </p:txBody>
      </p:sp>
      <p:sp>
        <p:nvSpPr>
          <p:cNvPr id="32" name="Text 30"/>
          <p:cNvSpPr/>
          <p:nvPr/>
        </p:nvSpPr>
        <p:spPr>
          <a:xfrm>
            <a:off x="457200" y="3566160"/>
            <a:ext cx="3886200" cy="237744"/>
          </a:xfrm>
          <a:prstGeom prst="rect">
            <a:avLst/>
          </a:prstGeom>
          <a:noFill/>
          <a:ln/>
        </p:spPr>
        <p:txBody>
          <a:bodyPr wrap="square" rtlCol="0" anchor="ctr"/>
          <a:lstStyle/>
          <a:p>
            <a:pPr marL="0" indent="0">
              <a:buNone/>
            </a:pPr>
            <a:r>
              <a:rPr lang="en-US" sz="1000" dirty="0">
                <a:solidFill>
                  <a:srgbClr val="718096"/>
                </a:solidFill>
                <a:latin typeface="Calibri" pitchFamily="34" charset="0"/>
                <a:ea typeface="Calibri" pitchFamily="34" charset="-122"/>
                <a:cs typeface="Calibri" pitchFamily="34" charset="-120"/>
              </a:rPr>
              <a:t>SKU / Brand / URL — multiple stores searched simultaneously</a:t>
            </a:r>
            <a:endParaRPr lang="en-US" sz="1000" dirty="0"/>
          </a:p>
        </p:txBody>
      </p:sp>
      <p:sp>
        <p:nvSpPr>
          <p:cNvPr id="33" name="Shape 31"/>
          <p:cNvSpPr/>
          <p:nvPr/>
        </p:nvSpPr>
        <p:spPr>
          <a:xfrm>
            <a:off x="4663440" y="3291840"/>
            <a:ext cx="4160520" cy="566928"/>
          </a:xfrm>
          <a:prstGeom prst="rect">
            <a:avLst/>
          </a:prstGeom>
          <a:solidFill>
            <a:srgbClr val="FFFFFF"/>
          </a:solidFill>
          <a:ln w="12700">
            <a:solidFill>
              <a:srgbClr val="E8ECF2"/>
            </a:solidFill>
            <a:prstDash val="solid"/>
          </a:ln>
          <a:effectLst>
            <a:outerShdw blurRad="63500" dist="25400" dir="8100000" algn="bl" rotWithShape="0">
              <a:srgbClr val="000000">
                <a:alpha val="10000"/>
              </a:srgbClr>
            </a:outerShdw>
          </a:effectLst>
        </p:spPr>
      </p:sp>
      <p:sp>
        <p:nvSpPr>
          <p:cNvPr id="34" name="Shape 32"/>
          <p:cNvSpPr/>
          <p:nvPr/>
        </p:nvSpPr>
        <p:spPr>
          <a:xfrm>
            <a:off x="4663440" y="3291840"/>
            <a:ext cx="54864" cy="566928"/>
          </a:xfrm>
          <a:prstGeom prst="rect">
            <a:avLst/>
          </a:prstGeom>
          <a:solidFill>
            <a:srgbClr val="B8963E"/>
          </a:solidFill>
          <a:ln w="12700">
            <a:solidFill>
              <a:srgbClr val="B8963E"/>
            </a:solidFill>
            <a:prstDash val="solid"/>
          </a:ln>
        </p:spPr>
      </p:sp>
      <p:sp>
        <p:nvSpPr>
          <p:cNvPr id="35" name="Text 33"/>
          <p:cNvSpPr/>
          <p:nvPr/>
        </p:nvSpPr>
        <p:spPr>
          <a:xfrm>
            <a:off x="4800600" y="3328416"/>
            <a:ext cx="3886200" cy="237744"/>
          </a:xfrm>
          <a:prstGeom prst="rect">
            <a:avLst/>
          </a:prstGeom>
          <a:noFill/>
          <a:ln/>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Price Trend Chart</a:t>
            </a:r>
            <a:endParaRPr lang="en-US" sz="1150" dirty="0"/>
          </a:p>
        </p:txBody>
      </p:sp>
      <p:sp>
        <p:nvSpPr>
          <p:cNvPr id="36" name="Text 34"/>
          <p:cNvSpPr/>
          <p:nvPr/>
        </p:nvSpPr>
        <p:spPr>
          <a:xfrm>
            <a:off x="4800600" y="3566160"/>
            <a:ext cx="3886200" cy="237744"/>
          </a:xfrm>
          <a:prstGeom prst="rect">
            <a:avLst/>
          </a:prstGeom>
          <a:noFill/>
          <a:ln/>
        </p:spPr>
        <p:txBody>
          <a:bodyPr wrap="square" rtlCol="0" anchor="ctr"/>
          <a:lstStyle/>
          <a:p>
            <a:pPr marL="0" indent="0">
              <a:buNone/>
            </a:pPr>
            <a:r>
              <a:rPr lang="en-US" sz="1000" dirty="0">
                <a:solidFill>
                  <a:srgbClr val="718096"/>
                </a:solidFill>
                <a:latin typeface="Calibri" pitchFamily="34" charset="0"/>
                <a:ea typeface="Calibri" pitchFamily="34" charset="-122"/>
                <a:cs typeface="Calibri" pitchFamily="34" charset="-120"/>
              </a:rPr>
              <a:t>Visual price history per product over a selectable time range</a:t>
            </a:r>
            <a:endParaRPr lang="en-US" sz="1000" dirty="0"/>
          </a:p>
        </p:txBody>
      </p:sp>
      <p:sp>
        <p:nvSpPr>
          <p:cNvPr id="37" name="Shape 35"/>
          <p:cNvSpPr/>
          <p:nvPr/>
        </p:nvSpPr>
        <p:spPr>
          <a:xfrm>
            <a:off x="320040" y="3977640"/>
            <a:ext cx="4160520" cy="566928"/>
          </a:xfrm>
          <a:prstGeom prst="rect">
            <a:avLst/>
          </a:prstGeom>
          <a:solidFill>
            <a:srgbClr val="FFFFFF"/>
          </a:solidFill>
          <a:ln w="12700">
            <a:solidFill>
              <a:srgbClr val="E8ECF2"/>
            </a:solidFill>
            <a:prstDash val="solid"/>
          </a:ln>
          <a:effectLst>
            <a:outerShdw blurRad="63500" dist="25400" dir="8100000" algn="bl" rotWithShape="0">
              <a:srgbClr val="000000">
                <a:alpha val="10000"/>
              </a:srgbClr>
            </a:outerShdw>
          </a:effectLst>
        </p:spPr>
      </p:sp>
      <p:sp>
        <p:nvSpPr>
          <p:cNvPr id="38" name="Shape 36"/>
          <p:cNvSpPr/>
          <p:nvPr/>
        </p:nvSpPr>
        <p:spPr>
          <a:xfrm>
            <a:off x="320040" y="3977640"/>
            <a:ext cx="54864" cy="566928"/>
          </a:xfrm>
          <a:prstGeom prst="rect">
            <a:avLst/>
          </a:prstGeom>
          <a:solidFill>
            <a:srgbClr val="B8963E"/>
          </a:solidFill>
          <a:ln w="12700">
            <a:solidFill>
              <a:srgbClr val="B8963E"/>
            </a:solidFill>
            <a:prstDash val="solid"/>
          </a:ln>
        </p:spPr>
      </p:sp>
      <p:sp>
        <p:nvSpPr>
          <p:cNvPr id="39" name="Text 37"/>
          <p:cNvSpPr/>
          <p:nvPr/>
        </p:nvSpPr>
        <p:spPr>
          <a:xfrm>
            <a:off x="457200" y="4014216"/>
            <a:ext cx="3886200" cy="237744"/>
          </a:xfrm>
          <a:prstGeom prst="rect">
            <a:avLst/>
          </a:prstGeom>
          <a:noFill/>
          <a:ln/>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My Watchlist</a:t>
            </a:r>
            <a:endParaRPr lang="en-US" sz="1150" dirty="0"/>
          </a:p>
        </p:txBody>
      </p:sp>
      <p:sp>
        <p:nvSpPr>
          <p:cNvPr id="40" name="Text 38"/>
          <p:cNvSpPr/>
          <p:nvPr/>
        </p:nvSpPr>
        <p:spPr>
          <a:xfrm>
            <a:off x="457200" y="4251960"/>
            <a:ext cx="3886200" cy="237744"/>
          </a:xfrm>
          <a:prstGeom prst="rect">
            <a:avLst/>
          </a:prstGeom>
          <a:noFill/>
          <a:ln/>
        </p:spPr>
        <p:txBody>
          <a:bodyPr wrap="square" rtlCol="0" anchor="ctr"/>
          <a:lstStyle/>
          <a:p>
            <a:pPr marL="0" indent="0">
              <a:buNone/>
            </a:pPr>
            <a:r>
              <a:rPr lang="en-US" sz="1000" dirty="0">
                <a:solidFill>
                  <a:srgbClr val="718096"/>
                </a:solidFill>
                <a:latin typeface="Calibri" pitchFamily="34" charset="0"/>
                <a:ea typeface="Calibri" pitchFamily="34" charset="-122"/>
                <a:cs typeface="Calibri" pitchFamily="34" charset="-120"/>
              </a:rPr>
              <a:t>Track products, entry price, percentage drop, and best store</a:t>
            </a:r>
            <a:endParaRPr lang="en-US" sz="1000" dirty="0"/>
          </a:p>
        </p:txBody>
      </p:sp>
      <p:sp>
        <p:nvSpPr>
          <p:cNvPr id="41" name="Shape 39"/>
          <p:cNvSpPr/>
          <p:nvPr/>
        </p:nvSpPr>
        <p:spPr>
          <a:xfrm>
            <a:off x="4663440" y="3977640"/>
            <a:ext cx="4160520" cy="566928"/>
          </a:xfrm>
          <a:prstGeom prst="rect">
            <a:avLst/>
          </a:prstGeom>
          <a:solidFill>
            <a:srgbClr val="FFFFFF"/>
          </a:solidFill>
          <a:ln w="12700">
            <a:solidFill>
              <a:srgbClr val="E8ECF2"/>
            </a:solidFill>
            <a:prstDash val="solid"/>
          </a:ln>
          <a:effectLst>
            <a:outerShdw blurRad="63500" dist="25400" dir="8100000" algn="bl" rotWithShape="0">
              <a:srgbClr val="000000">
                <a:alpha val="10000"/>
              </a:srgbClr>
            </a:outerShdw>
          </a:effectLst>
        </p:spPr>
      </p:sp>
      <p:sp>
        <p:nvSpPr>
          <p:cNvPr id="42" name="Shape 40"/>
          <p:cNvSpPr/>
          <p:nvPr/>
        </p:nvSpPr>
        <p:spPr>
          <a:xfrm>
            <a:off x="4663440" y="3977640"/>
            <a:ext cx="54864" cy="566928"/>
          </a:xfrm>
          <a:prstGeom prst="rect">
            <a:avLst/>
          </a:prstGeom>
          <a:solidFill>
            <a:srgbClr val="B8963E"/>
          </a:solidFill>
          <a:ln w="12700">
            <a:solidFill>
              <a:srgbClr val="B8963E"/>
            </a:solidFill>
            <a:prstDash val="solid"/>
          </a:ln>
        </p:spPr>
      </p:sp>
      <p:sp>
        <p:nvSpPr>
          <p:cNvPr id="43" name="Text 41"/>
          <p:cNvSpPr/>
          <p:nvPr/>
        </p:nvSpPr>
        <p:spPr>
          <a:xfrm>
            <a:off x="4800600" y="4014216"/>
            <a:ext cx="3886200" cy="237744"/>
          </a:xfrm>
          <a:prstGeom prst="rect">
            <a:avLst/>
          </a:prstGeom>
          <a:noFill/>
          <a:ln/>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Price Alerts</a:t>
            </a:r>
            <a:endParaRPr lang="en-US" sz="1150" dirty="0"/>
          </a:p>
        </p:txBody>
      </p:sp>
      <p:sp>
        <p:nvSpPr>
          <p:cNvPr id="44" name="Text 42"/>
          <p:cNvSpPr/>
          <p:nvPr/>
        </p:nvSpPr>
        <p:spPr>
          <a:xfrm>
            <a:off x="4800600" y="4251960"/>
            <a:ext cx="3886200" cy="237744"/>
          </a:xfrm>
          <a:prstGeom prst="rect">
            <a:avLst/>
          </a:prstGeom>
          <a:noFill/>
          <a:ln/>
        </p:spPr>
        <p:txBody>
          <a:bodyPr wrap="square" rtlCol="0" anchor="ctr"/>
          <a:lstStyle/>
          <a:p>
            <a:pPr marL="0" indent="0">
              <a:buNone/>
            </a:pPr>
            <a:r>
              <a:rPr lang="en-US" sz="1000" dirty="0">
                <a:solidFill>
                  <a:srgbClr val="718096"/>
                </a:solidFill>
                <a:latin typeface="Calibri" pitchFamily="34" charset="0"/>
                <a:ea typeface="Calibri" pitchFamily="34" charset="-122"/>
                <a:cs typeface="Calibri" pitchFamily="34" charset="-120"/>
              </a:rPr>
              <a:t>Set Min/Max threshold; receive notification on price drop</a:t>
            </a:r>
            <a:endParaRPr lang="en-US" sz="1000" dirty="0"/>
          </a:p>
        </p:txBody>
      </p:sp>
      <p:sp>
        <p:nvSpPr>
          <p:cNvPr id="45" name="Shape 43"/>
          <p:cNvSpPr/>
          <p:nvPr/>
        </p:nvSpPr>
        <p:spPr>
          <a:xfrm>
            <a:off x="0" y="4892040"/>
            <a:ext cx="9144000" cy="251460"/>
          </a:xfrm>
          <a:prstGeom prst="rect">
            <a:avLst/>
          </a:prstGeom>
          <a:solidFill>
            <a:srgbClr val="1B2A4A"/>
          </a:solidFill>
          <a:ln w="12700">
            <a:solidFill>
              <a:srgbClr val="1B2A4A"/>
            </a:solidFill>
            <a:prstDash val="solid"/>
          </a:ln>
        </p:spPr>
      </p:sp>
      <p:sp>
        <p:nvSpPr>
          <p:cNvPr id="46" name="Text 44"/>
          <p:cNvSpPr/>
          <p:nvPr/>
        </p:nvSpPr>
        <p:spPr>
          <a:xfrm>
            <a:off x="320040" y="4892040"/>
            <a:ext cx="8503920" cy="251460"/>
          </a:xfrm>
          <a:prstGeom prst="rect">
            <a:avLst/>
          </a:prstGeom>
          <a:noFill/>
          <a:ln/>
        </p:spPr>
        <p:txBody>
          <a:bodyPr wrap="square" rtlCol="0" anchor="ctr"/>
          <a:lstStyle/>
          <a:p>
            <a:pPr marL="0" indent="0" algn="ctr">
              <a:buNone/>
            </a:pPr>
            <a:r>
              <a:rPr lang="en-US" sz="900" dirty="0">
                <a:solidFill>
                  <a:srgbClr val="D4AF5A"/>
                </a:solidFill>
                <a:latin typeface="Calibri" pitchFamily="34" charset="0"/>
                <a:ea typeface="Calibri" pitchFamily="34" charset="-122"/>
                <a:cs typeface="Calibri" pitchFamily="34" charset="-120"/>
              </a:rPr>
              <a:t>Price Comparison Web Application  ·  Internship Project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36068"/>
            <a:ext cx="9144000" cy="960120"/>
          </a:xfrm>
          <a:prstGeom prst="rect">
            <a:avLst/>
          </a:prstGeom>
          <a:solidFill>
            <a:srgbClr val="1B2A4A"/>
          </a:solidFill>
          <a:ln w="12700">
            <a:solidFill>
              <a:srgbClr val="1B2A4A"/>
            </a:solidFill>
            <a:prstDash val="solid"/>
          </a:ln>
        </p:spPr>
      </p:sp>
      <p:sp>
        <p:nvSpPr>
          <p:cNvPr id="3" name="Shape 1"/>
          <p:cNvSpPr/>
          <p:nvPr/>
        </p:nvSpPr>
        <p:spPr>
          <a:xfrm>
            <a:off x="0" y="960120"/>
            <a:ext cx="9144000" cy="36576"/>
          </a:xfrm>
          <a:prstGeom prst="rect">
            <a:avLst/>
          </a:prstGeom>
          <a:solidFill>
            <a:srgbClr val="B8963E"/>
          </a:solidFill>
          <a:ln w="12700">
            <a:solidFill>
              <a:srgbClr val="B8963E"/>
            </a:solidFill>
            <a:prstDash val="solid"/>
          </a:ln>
        </p:spPr>
      </p:sp>
      <p:sp>
        <p:nvSpPr>
          <p:cNvPr id="4" name="Text 2"/>
          <p:cNvSpPr/>
          <p:nvPr/>
        </p:nvSpPr>
        <p:spPr>
          <a:xfrm>
            <a:off x="365760" y="118872"/>
            <a:ext cx="768096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Future Scope</a:t>
            </a:r>
            <a:endParaRPr lang="en-US" sz="2600" dirty="0"/>
          </a:p>
        </p:txBody>
      </p:sp>
      <p:sp>
        <p:nvSpPr>
          <p:cNvPr id="5" name="Text 3"/>
          <p:cNvSpPr/>
          <p:nvPr/>
        </p:nvSpPr>
        <p:spPr>
          <a:xfrm>
            <a:off x="8046720" y="118872"/>
            <a:ext cx="914400" cy="731520"/>
          </a:xfrm>
          <a:prstGeom prst="rect">
            <a:avLst/>
          </a:prstGeom>
          <a:noFill/>
          <a:ln/>
        </p:spPr>
        <p:txBody>
          <a:bodyPr wrap="square" rtlCol="0" anchor="ctr"/>
          <a:lstStyle/>
          <a:p>
            <a:pPr marL="0" indent="0" algn="r">
              <a:buNone/>
            </a:pPr>
            <a:r>
              <a:rPr lang="en-US" sz="2200" b="1" dirty="0">
                <a:solidFill>
                  <a:srgbClr val="D4AF5A"/>
                </a:solidFill>
                <a:latin typeface="Calibri" pitchFamily="34" charset="0"/>
                <a:ea typeface="Calibri" pitchFamily="34" charset="-122"/>
                <a:cs typeface="Calibri" pitchFamily="34" charset="-120"/>
              </a:rPr>
              <a:t>08</a:t>
            </a:r>
            <a:endParaRPr lang="en-US" sz="2200" dirty="0"/>
          </a:p>
        </p:txBody>
      </p:sp>
      <p:sp>
        <p:nvSpPr>
          <p:cNvPr id="8" name="Text 6"/>
          <p:cNvSpPr/>
          <p:nvPr/>
        </p:nvSpPr>
        <p:spPr>
          <a:xfrm>
            <a:off x="320040" y="1115568"/>
            <a:ext cx="8503920" cy="3502152"/>
          </a:xfrm>
          <a:prstGeom prst="rect">
            <a:avLst/>
          </a:prstGeom>
          <a:noFill/>
          <a:ln/>
        </p:spPr>
        <p:txBody>
          <a:bodyPr wrap="square" rtlCol="0" anchor="ctr"/>
          <a:lstStyle/>
          <a:p>
            <a:pPr marL="0" indent="0" algn="ctr">
              <a:buNone/>
            </a:pPr>
            <a:endParaRPr lang="en-US" sz="1400" dirty="0"/>
          </a:p>
        </p:txBody>
      </p:sp>
      <p:sp>
        <p:nvSpPr>
          <p:cNvPr id="9" name="Text 7"/>
          <p:cNvSpPr/>
          <p:nvPr/>
        </p:nvSpPr>
        <p:spPr>
          <a:xfrm>
            <a:off x="868680" y="1152144"/>
            <a:ext cx="7955280" cy="539496"/>
          </a:xfrm>
          <a:prstGeom prst="rect">
            <a:avLst/>
          </a:prstGeom>
          <a:noFill/>
          <a:ln/>
        </p:spPr>
        <p:txBody>
          <a:bodyPr wrap="square" rtlCol="0" anchor="ctr"/>
          <a:lstStyle/>
          <a:p>
            <a:pPr marL="0" indent="0">
              <a:buNone/>
            </a:pPr>
            <a:endParaRPr lang="en-US" sz="1150" dirty="0"/>
          </a:p>
        </p:txBody>
      </p:sp>
      <p:sp>
        <p:nvSpPr>
          <p:cNvPr id="10" name="Text 8"/>
          <p:cNvSpPr/>
          <p:nvPr/>
        </p:nvSpPr>
        <p:spPr>
          <a:xfrm>
            <a:off x="868680" y="1417320"/>
            <a:ext cx="7818120" cy="2468880"/>
          </a:xfrm>
          <a:prstGeom prst="rect">
            <a:avLst/>
          </a:prstGeom>
          <a:noFill/>
          <a:ln/>
        </p:spPr>
        <p:txBody>
          <a:bodyPr wrap="square" rtlCol="0" anchor="ctr"/>
          <a:lstStyle/>
          <a:p>
            <a:pPr marL="0" indent="0">
              <a:lnSpc>
                <a:spcPct val="120000"/>
              </a:lnSpc>
              <a:buNone/>
            </a:pPr>
            <a:endParaRPr lang="en-US" sz="1050" dirty="0"/>
          </a:p>
        </p:txBody>
      </p:sp>
      <p:sp>
        <p:nvSpPr>
          <p:cNvPr id="13" name="Text 11"/>
          <p:cNvSpPr/>
          <p:nvPr/>
        </p:nvSpPr>
        <p:spPr>
          <a:xfrm>
            <a:off x="320040" y="1847088"/>
            <a:ext cx="457200" cy="621792"/>
          </a:xfrm>
          <a:prstGeom prst="rect">
            <a:avLst/>
          </a:prstGeom>
          <a:noFill/>
          <a:ln/>
        </p:spPr>
        <p:txBody>
          <a:bodyPr wrap="square" rtlCol="0" anchor="ctr"/>
          <a:lstStyle/>
          <a:p>
            <a:pPr marL="0" indent="0" algn="ctr">
              <a:buNone/>
            </a:pPr>
            <a:endParaRPr lang="en-US" sz="1400" dirty="0"/>
          </a:p>
        </p:txBody>
      </p:sp>
      <p:sp>
        <p:nvSpPr>
          <p:cNvPr id="14" name="Text 12"/>
          <p:cNvSpPr/>
          <p:nvPr/>
        </p:nvSpPr>
        <p:spPr>
          <a:xfrm>
            <a:off x="868680" y="1883664"/>
            <a:ext cx="2377440" cy="2194560"/>
          </a:xfrm>
          <a:prstGeom prst="rect">
            <a:avLst/>
          </a:prstGeom>
          <a:noFill/>
          <a:ln/>
        </p:spPr>
        <p:txBody>
          <a:bodyPr wrap="square" rtlCol="0" anchor="ctr"/>
          <a:lstStyle/>
          <a:p>
            <a:pPr marL="0" indent="0">
              <a:buNone/>
            </a:pPr>
            <a:endParaRPr lang="en-US" sz="1150" dirty="0"/>
          </a:p>
        </p:txBody>
      </p:sp>
      <p:sp>
        <p:nvSpPr>
          <p:cNvPr id="18" name="Text 16"/>
          <p:cNvSpPr/>
          <p:nvPr/>
        </p:nvSpPr>
        <p:spPr>
          <a:xfrm>
            <a:off x="320040" y="2578608"/>
            <a:ext cx="457200" cy="621792"/>
          </a:xfrm>
          <a:prstGeom prst="rect">
            <a:avLst/>
          </a:prstGeom>
          <a:noFill/>
          <a:ln/>
        </p:spPr>
        <p:txBody>
          <a:bodyPr wrap="square" rtlCol="0" anchor="ctr"/>
          <a:lstStyle/>
          <a:p>
            <a:pPr marL="0" indent="0" algn="ctr">
              <a:buNone/>
            </a:pPr>
            <a:endParaRPr lang="en-US" sz="1400" dirty="0"/>
          </a:p>
        </p:txBody>
      </p:sp>
      <p:sp>
        <p:nvSpPr>
          <p:cNvPr id="20" name="Text 18"/>
          <p:cNvSpPr/>
          <p:nvPr/>
        </p:nvSpPr>
        <p:spPr>
          <a:xfrm>
            <a:off x="320040" y="1307591"/>
            <a:ext cx="8366760" cy="3243393"/>
          </a:xfrm>
          <a:prstGeom prst="rect">
            <a:avLst/>
          </a:prstGeom>
          <a:noFill/>
          <a:ln/>
        </p:spPr>
        <p:txBody>
          <a:bodyPr wrap="square" rtlCol="0" anchor="ctr"/>
          <a:lstStyle/>
          <a:p>
            <a:pPr marL="0" indent="0">
              <a:lnSpc>
                <a:spcPct val="120000"/>
              </a:lnSpc>
              <a:buNone/>
            </a:pPr>
            <a:endParaRPr lang="en-US" sz="1050" dirty="0"/>
          </a:p>
        </p:txBody>
      </p:sp>
      <p:sp>
        <p:nvSpPr>
          <p:cNvPr id="23" name="Text 21"/>
          <p:cNvSpPr/>
          <p:nvPr/>
        </p:nvSpPr>
        <p:spPr>
          <a:xfrm>
            <a:off x="320040" y="3310128"/>
            <a:ext cx="457200" cy="621792"/>
          </a:xfrm>
          <a:prstGeom prst="rect">
            <a:avLst/>
          </a:prstGeom>
          <a:noFill/>
          <a:ln/>
        </p:spPr>
        <p:txBody>
          <a:bodyPr wrap="square" rtlCol="0" anchor="ctr"/>
          <a:lstStyle/>
          <a:p>
            <a:pPr marL="0" indent="0" algn="ctr">
              <a:buNone/>
            </a:pPr>
            <a:endParaRPr lang="en-US" sz="1400" dirty="0"/>
          </a:p>
        </p:txBody>
      </p:sp>
      <p:sp>
        <p:nvSpPr>
          <p:cNvPr id="24" name="Text 22"/>
          <p:cNvSpPr/>
          <p:nvPr/>
        </p:nvSpPr>
        <p:spPr>
          <a:xfrm>
            <a:off x="868680" y="3346704"/>
            <a:ext cx="2377440" cy="256032"/>
          </a:xfrm>
          <a:prstGeom prst="rect">
            <a:avLst/>
          </a:prstGeom>
          <a:noFill/>
          <a:ln/>
        </p:spPr>
        <p:txBody>
          <a:bodyPr wrap="square" rtlCol="0" anchor="ctr"/>
          <a:lstStyle/>
          <a:p>
            <a:pPr marL="0" indent="0">
              <a:buNone/>
            </a:pPr>
            <a:endParaRPr lang="en-US" sz="1150" dirty="0"/>
          </a:p>
        </p:txBody>
      </p:sp>
      <p:sp>
        <p:nvSpPr>
          <p:cNvPr id="25" name="Text 23"/>
          <p:cNvSpPr/>
          <p:nvPr/>
        </p:nvSpPr>
        <p:spPr>
          <a:xfrm>
            <a:off x="868680" y="3611880"/>
            <a:ext cx="7818120" cy="274320"/>
          </a:xfrm>
          <a:prstGeom prst="rect">
            <a:avLst/>
          </a:prstGeom>
          <a:noFill/>
          <a:ln/>
        </p:spPr>
        <p:txBody>
          <a:bodyPr wrap="square" rtlCol="0" anchor="ctr"/>
          <a:lstStyle/>
          <a:p>
            <a:pPr marL="0" indent="0">
              <a:lnSpc>
                <a:spcPct val="120000"/>
              </a:lnSpc>
              <a:buNone/>
            </a:pPr>
            <a:endParaRPr lang="en-US" sz="1050" dirty="0"/>
          </a:p>
        </p:txBody>
      </p:sp>
      <p:sp>
        <p:nvSpPr>
          <p:cNvPr id="29" name="Text 27"/>
          <p:cNvSpPr/>
          <p:nvPr/>
        </p:nvSpPr>
        <p:spPr>
          <a:xfrm>
            <a:off x="868680" y="4078224"/>
            <a:ext cx="2377440" cy="256032"/>
          </a:xfrm>
          <a:prstGeom prst="rect">
            <a:avLst/>
          </a:prstGeom>
          <a:noFill/>
          <a:ln/>
        </p:spPr>
        <p:txBody>
          <a:bodyPr wrap="square" rtlCol="0" anchor="ctr"/>
          <a:lstStyle/>
          <a:p>
            <a:pPr marL="0" indent="0">
              <a:buNone/>
            </a:pPr>
            <a:endParaRPr lang="en-US" sz="1150" dirty="0"/>
          </a:p>
        </p:txBody>
      </p:sp>
      <p:sp>
        <p:nvSpPr>
          <p:cNvPr id="30" name="Text 28"/>
          <p:cNvSpPr/>
          <p:nvPr/>
        </p:nvSpPr>
        <p:spPr>
          <a:xfrm>
            <a:off x="868680" y="4343400"/>
            <a:ext cx="7818120" cy="274320"/>
          </a:xfrm>
          <a:prstGeom prst="rect">
            <a:avLst/>
          </a:prstGeom>
          <a:noFill/>
          <a:ln/>
        </p:spPr>
        <p:txBody>
          <a:bodyPr wrap="square" rtlCol="0" anchor="ctr"/>
          <a:lstStyle/>
          <a:p>
            <a:pPr marL="0" indent="0">
              <a:lnSpc>
                <a:spcPct val="120000"/>
              </a:lnSpc>
              <a:buNone/>
            </a:pPr>
            <a:endParaRPr lang="en-US" sz="1050" dirty="0"/>
          </a:p>
        </p:txBody>
      </p:sp>
      <p:sp>
        <p:nvSpPr>
          <p:cNvPr id="31" name="Shape 29"/>
          <p:cNvSpPr/>
          <p:nvPr/>
        </p:nvSpPr>
        <p:spPr>
          <a:xfrm>
            <a:off x="0" y="4892040"/>
            <a:ext cx="9144000" cy="251460"/>
          </a:xfrm>
          <a:prstGeom prst="rect">
            <a:avLst/>
          </a:prstGeom>
          <a:solidFill>
            <a:srgbClr val="1B2A4A"/>
          </a:solidFill>
          <a:ln w="12700">
            <a:solidFill>
              <a:srgbClr val="1B2A4A"/>
            </a:solidFill>
            <a:prstDash val="solid"/>
          </a:ln>
        </p:spPr>
      </p:sp>
      <p:sp>
        <p:nvSpPr>
          <p:cNvPr id="32" name="Text 30"/>
          <p:cNvSpPr/>
          <p:nvPr/>
        </p:nvSpPr>
        <p:spPr>
          <a:xfrm>
            <a:off x="320040" y="4892040"/>
            <a:ext cx="8503920" cy="251460"/>
          </a:xfrm>
          <a:prstGeom prst="rect">
            <a:avLst/>
          </a:prstGeom>
          <a:noFill/>
          <a:ln/>
        </p:spPr>
        <p:txBody>
          <a:bodyPr wrap="square" rtlCol="0" anchor="ctr"/>
          <a:lstStyle/>
          <a:p>
            <a:pPr marL="0" indent="0" algn="ctr">
              <a:buNone/>
            </a:pPr>
            <a:r>
              <a:rPr lang="en-US" sz="900" dirty="0">
                <a:solidFill>
                  <a:srgbClr val="D4AF5A"/>
                </a:solidFill>
                <a:latin typeface="Calibri" pitchFamily="34" charset="0"/>
                <a:ea typeface="Calibri" pitchFamily="34" charset="-122"/>
                <a:cs typeface="Calibri" pitchFamily="34" charset="-120"/>
              </a:rPr>
              <a:t>Price Comparison Web Application  ·  Internship Project</a:t>
            </a:r>
            <a:endParaRPr lang="en-US" sz="900" dirty="0"/>
          </a:p>
        </p:txBody>
      </p:sp>
      <p:sp>
        <p:nvSpPr>
          <p:cNvPr id="44" name="Rectangle 10">
            <a:extLst>
              <a:ext uri="{FF2B5EF4-FFF2-40B4-BE49-F238E27FC236}">
                <a16:creationId xmlns:a16="http://schemas.microsoft.com/office/drawing/2014/main" id="{0D594E2D-5613-2C75-EA4E-0B23242B00F2}"/>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47" name="TextBox 46">
            <a:extLst>
              <a:ext uri="{FF2B5EF4-FFF2-40B4-BE49-F238E27FC236}">
                <a16:creationId xmlns:a16="http://schemas.microsoft.com/office/drawing/2014/main" id="{44E9E8C2-78F2-3C4A-EBA3-2C37C13CA1C6}"/>
              </a:ext>
            </a:extLst>
          </p:cNvPr>
          <p:cNvSpPr txBox="1"/>
          <p:nvPr/>
        </p:nvSpPr>
        <p:spPr>
          <a:xfrm>
            <a:off x="777240" y="592515"/>
            <a:ext cx="611251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 name="TextBox 48">
            <a:extLst>
              <a:ext uri="{FF2B5EF4-FFF2-40B4-BE49-F238E27FC236}">
                <a16:creationId xmlns:a16="http://schemas.microsoft.com/office/drawing/2014/main" id="{AA4B4EA3-DA3A-2448-5137-A0B8AF89992D}"/>
              </a:ext>
            </a:extLst>
          </p:cNvPr>
          <p:cNvSpPr txBox="1"/>
          <p:nvPr/>
        </p:nvSpPr>
        <p:spPr>
          <a:xfrm>
            <a:off x="320040" y="1625846"/>
            <a:ext cx="8422003" cy="2164888"/>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endParaRPr lang="en-US" altLang="en-US" sz="1400" dirty="0"/>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400" dirty="0"/>
              <a:t>Add more e-commerce platforms for better comparison.</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400" dirty="0"/>
              <a:t>Use AI for personalized product recommendations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400" dirty="0"/>
              <a:t>Develop a mobile application for better accessibility.</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400" dirty="0"/>
              <a:t>Integrate user reviews and ratings comparison.</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400" dirty="0"/>
              <a:t>Improve performance using APIs instead of web scraping. </a:t>
            </a:r>
          </a:p>
          <a:p>
            <a:pPr marL="285750" indent="-285750">
              <a:lnSpc>
                <a:spcPct val="120000"/>
              </a:lnSpc>
              <a:buFont typeface="Arial" panose="020B0604020202020204" pitchFamily="34" charset="0"/>
              <a:buChar char="•"/>
            </a:pP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963E"/>
          </a:solidFill>
          <a:ln w="12700">
            <a:solidFill>
              <a:srgbClr val="B8963E"/>
            </a:solidFill>
            <a:prstDash val="solid"/>
          </a:ln>
        </p:spPr>
      </p:sp>
      <p:sp>
        <p:nvSpPr>
          <p:cNvPr id="3" name="Shape 1"/>
          <p:cNvSpPr/>
          <p:nvPr/>
        </p:nvSpPr>
        <p:spPr>
          <a:xfrm>
            <a:off x="0" y="5088636"/>
            <a:ext cx="9144000" cy="54864"/>
          </a:xfrm>
          <a:prstGeom prst="rect">
            <a:avLst/>
          </a:prstGeom>
          <a:solidFill>
            <a:srgbClr val="B8963E"/>
          </a:solidFill>
          <a:ln w="12700">
            <a:solidFill>
              <a:srgbClr val="B8963E"/>
            </a:solidFill>
            <a:prstDash val="solid"/>
          </a:ln>
        </p:spPr>
      </p:sp>
      <p:sp>
        <p:nvSpPr>
          <p:cNvPr id="4" name="Text 2"/>
          <p:cNvSpPr/>
          <p:nvPr/>
        </p:nvSpPr>
        <p:spPr>
          <a:xfrm>
            <a:off x="457200" y="164592"/>
            <a:ext cx="8229600" cy="347472"/>
          </a:xfrm>
          <a:prstGeom prst="rect">
            <a:avLst/>
          </a:prstGeom>
          <a:noFill/>
          <a:ln/>
        </p:spPr>
        <p:txBody>
          <a:bodyPr wrap="square" rtlCol="0" anchor="ctr"/>
          <a:lstStyle/>
          <a:p>
            <a:pPr marL="0" indent="0">
              <a:buNone/>
            </a:pPr>
            <a:r>
              <a:rPr lang="en-US" sz="1000" b="1" kern="0" spc="300" dirty="0">
                <a:solidFill>
                  <a:srgbClr val="D4AF5A"/>
                </a:solidFill>
                <a:latin typeface="Calibri" pitchFamily="34" charset="0"/>
                <a:ea typeface="Calibri" pitchFamily="34" charset="-122"/>
                <a:cs typeface="Calibri" pitchFamily="34" charset="-120"/>
              </a:rPr>
              <a:t>CONCLUSION &amp; ACKNOWLEDGEMENTS</a:t>
            </a:r>
            <a:endParaRPr lang="en-US" sz="1000" dirty="0"/>
          </a:p>
        </p:txBody>
      </p:sp>
      <p:sp>
        <p:nvSpPr>
          <p:cNvPr id="5" name="Text 3"/>
          <p:cNvSpPr/>
          <p:nvPr/>
        </p:nvSpPr>
        <p:spPr>
          <a:xfrm>
            <a:off x="457200" y="621792"/>
            <a:ext cx="8229600" cy="2286000"/>
          </a:xfrm>
          <a:prstGeom prst="rect">
            <a:avLst/>
          </a:prstGeom>
          <a:noFill/>
          <a:ln/>
        </p:spPr>
        <p:txBody>
          <a:bodyPr wrap="square" rtlCol="0" anchor="ctr"/>
          <a:lstStyle/>
          <a:p>
            <a:pPr marL="0" indent="0">
              <a:lnSpc>
                <a:spcPct val="150000"/>
              </a:lnSpc>
              <a:buNone/>
            </a:pPr>
            <a:r>
              <a:rPr lang="en-US" sz="1250" dirty="0">
                <a:solidFill>
                  <a:srgbClr val="CBD5E1"/>
                </a:solidFill>
                <a:latin typeface="Calibri" pitchFamily="34" charset="0"/>
                <a:ea typeface="Calibri" pitchFamily="34" charset="-122"/>
                <a:cs typeface="Calibri" pitchFamily="34" charset="-120"/>
              </a:rPr>
              <a:t>The Price Comparison Web Application was successfully delivered over the course of the internship. The application enables users to search by SKU, brand name, or product URL and instantly compare live prices from multiple e-commerce stores — including Amazon, Flipkart, Reliance Digital, Croma, Blinkit, Myntra, and others — within a single, unified interface.</a:t>
            </a:r>
            <a:endParaRPr lang="en-US" sz="1250" dirty="0"/>
          </a:p>
          <a:p>
            <a:pPr marL="0" indent="0">
              <a:lnSpc>
                <a:spcPct val="150000"/>
              </a:lnSpc>
              <a:buNone/>
            </a:pPr>
            <a:endParaRPr lang="en-US" sz="1250" dirty="0"/>
          </a:p>
          <a:p>
            <a:pPr marL="0" indent="0">
              <a:lnSpc>
                <a:spcPct val="150000"/>
              </a:lnSpc>
              <a:buNone/>
            </a:pPr>
            <a:r>
              <a:rPr lang="en-US" sz="1250" dirty="0">
                <a:solidFill>
                  <a:srgbClr val="CBD5E1"/>
                </a:solidFill>
                <a:latin typeface="Calibri" pitchFamily="34" charset="0"/>
                <a:ea typeface="Calibri" pitchFamily="34" charset="-122"/>
                <a:cs typeface="Calibri" pitchFamily="34" charset="-120"/>
              </a:rPr>
              <a:t>The platform integrates price-trend analytics, a personal watchlist, and a configurable price-alert system, constituting a comprehensive price intelligence solution. The project provided substantive practical experience in web scraping, full-stack development, and the resolution of real-world technical constraints.</a:t>
            </a:r>
            <a:endParaRPr lang="en-US" sz="1250" dirty="0"/>
          </a:p>
        </p:txBody>
      </p:sp>
      <p:sp>
        <p:nvSpPr>
          <p:cNvPr id="6" name="Shape 4"/>
          <p:cNvSpPr/>
          <p:nvPr/>
        </p:nvSpPr>
        <p:spPr>
          <a:xfrm>
            <a:off x="457200" y="2999232"/>
            <a:ext cx="8229600" cy="36576"/>
          </a:xfrm>
          <a:prstGeom prst="rect">
            <a:avLst/>
          </a:prstGeom>
          <a:solidFill>
            <a:srgbClr val="B8963E"/>
          </a:solidFill>
          <a:ln w="12700">
            <a:solidFill>
              <a:srgbClr val="B8963E"/>
            </a:solidFill>
            <a:prstDash val="solid"/>
          </a:ln>
        </p:spPr>
      </p:sp>
      <p:sp>
        <p:nvSpPr>
          <p:cNvPr id="7" name="Text 5"/>
          <p:cNvSpPr/>
          <p:nvPr/>
        </p:nvSpPr>
        <p:spPr>
          <a:xfrm>
            <a:off x="457200" y="3127248"/>
            <a:ext cx="8229600" cy="64008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Thank You</a:t>
            </a:r>
            <a:endParaRPr lang="en-US" sz="3600" dirty="0"/>
          </a:p>
        </p:txBody>
      </p:sp>
      <p:sp>
        <p:nvSpPr>
          <p:cNvPr id="8" name="Text 6"/>
          <p:cNvSpPr/>
          <p:nvPr/>
        </p:nvSpPr>
        <p:spPr>
          <a:xfrm>
            <a:off x="457200" y="3822192"/>
            <a:ext cx="8229600" cy="365760"/>
          </a:xfrm>
          <a:prstGeom prst="rect">
            <a:avLst/>
          </a:prstGeom>
          <a:noFill/>
          <a:ln/>
        </p:spPr>
        <p:txBody>
          <a:bodyPr wrap="square" rtlCol="0" anchor="ctr"/>
          <a:lstStyle/>
          <a:p>
            <a:pPr marL="0" indent="0" algn="ctr">
              <a:buNone/>
            </a:pPr>
            <a:r>
              <a:rPr lang="en-US" sz="1200" i="1" dirty="0">
                <a:solidFill>
                  <a:srgbClr val="94A3B8"/>
                </a:solidFill>
                <a:latin typeface="Calibri" pitchFamily="34" charset="0"/>
                <a:ea typeface="Calibri" pitchFamily="34" charset="-122"/>
                <a:cs typeface="Calibri" pitchFamily="34" charset="-120"/>
              </a:rPr>
              <a:t>We are grateful for the mentorship, guidance, and opportunity provided throughout this internship.</a:t>
            </a:r>
            <a:endParaRPr lang="en-US" sz="1200" dirty="0"/>
          </a:p>
        </p:txBody>
      </p:sp>
      <p:sp>
        <p:nvSpPr>
          <p:cNvPr id="9" name="Shape 7"/>
          <p:cNvSpPr/>
          <p:nvPr/>
        </p:nvSpPr>
        <p:spPr>
          <a:xfrm>
            <a:off x="0" y="4343400"/>
            <a:ext cx="9144000" cy="365760"/>
          </a:xfrm>
          <a:prstGeom prst="rect">
            <a:avLst/>
          </a:prstGeom>
          <a:solidFill>
            <a:srgbClr val="243554"/>
          </a:solidFill>
          <a:ln w="12700">
            <a:solidFill>
              <a:srgbClr val="243554"/>
            </a:solidFill>
            <a:prstDash val="solid"/>
          </a:ln>
        </p:spPr>
      </p:sp>
      <p:sp>
        <p:nvSpPr>
          <p:cNvPr id="10" name="Text 8"/>
          <p:cNvSpPr/>
          <p:nvPr/>
        </p:nvSpPr>
        <p:spPr>
          <a:xfrm>
            <a:off x="274320" y="4343400"/>
            <a:ext cx="8595360" cy="365760"/>
          </a:xfrm>
          <a:prstGeom prst="rect">
            <a:avLst/>
          </a:prstGeom>
          <a:noFill/>
          <a:ln/>
        </p:spPr>
        <p:txBody>
          <a:bodyPr wrap="square" rtlCol="0" anchor="ctr"/>
          <a:lstStyle/>
          <a:p>
            <a:pPr marL="0" indent="0" algn="ctr">
              <a:buNone/>
            </a:pPr>
            <a:r>
              <a:rPr lang="en-US" sz="1100" dirty="0">
                <a:solidFill>
                  <a:srgbClr val="D4AF5A"/>
                </a:solidFill>
                <a:latin typeface="Calibri" pitchFamily="34" charset="0"/>
                <a:ea typeface="Calibri" pitchFamily="34" charset="-122"/>
                <a:cs typeface="Calibri" pitchFamily="34" charset="-120"/>
              </a:rPr>
              <a:t>Built with: React.js  ·  Django / Flask  ·  BeautifulSoup  ·  Selenium  ·  MySQL  ·  Firebase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1018</Words>
  <Application>Microsoft Office PowerPoint</Application>
  <PresentationFormat>On-screen Show (16:9)</PresentationFormat>
  <Paragraphs>135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Comparison Web Application</dc:title>
  <dc:subject>PptxGenJS Presentation</dc:subject>
  <dc:creator>PptxGenJS</dc:creator>
  <cp:lastModifiedBy>shireeshapalakurla@gmail.com</cp:lastModifiedBy>
  <cp:revision>3</cp:revision>
  <dcterms:created xsi:type="dcterms:W3CDTF">2026-03-24T11:06:09Z</dcterms:created>
  <dcterms:modified xsi:type="dcterms:W3CDTF">2026-03-26T13:46:42Z</dcterms:modified>
</cp:coreProperties>
</file>